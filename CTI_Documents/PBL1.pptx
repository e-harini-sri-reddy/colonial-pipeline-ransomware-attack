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2" r:id="rId5"/>
    <p:sldId id="260" r:id="rId6"/>
    <p:sldId id="258" r:id="rId7"/>
    <p:sldId id="261" r:id="rId8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3"/>
          <p:cNvSpPr/>
          <p:nvPr/>
        </p:nvSpPr>
        <p:spPr>
          <a:xfrm>
            <a:off x="-1" y="-1"/>
            <a:ext cx="8991601" cy="102870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grpSp>
        <p:nvGrpSpPr>
          <p:cNvPr id="97" name="Group 4"/>
          <p:cNvGrpSpPr/>
          <p:nvPr/>
        </p:nvGrpSpPr>
        <p:grpSpPr>
          <a:xfrm>
            <a:off x="10744200" y="867068"/>
            <a:ext cx="6879502" cy="5909511"/>
            <a:chOff x="0" y="0"/>
            <a:chExt cx="6879501" cy="5909509"/>
          </a:xfrm>
        </p:grpSpPr>
        <p:sp>
          <p:nvSpPr>
            <p:cNvPr id="95" name="TextBox 5"/>
            <p:cNvSpPr txBox="1"/>
            <p:nvPr/>
          </p:nvSpPr>
          <p:spPr>
            <a:xfrm>
              <a:off x="0" y="0"/>
              <a:ext cx="6879502" cy="4657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9100"/>
                </a:lnSpc>
                <a:defRPr sz="9100">
                  <a:solidFill>
                    <a:srgbClr val="DCE6F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defRPr>
              </a:lvl1pPr>
            </a:lstStyle>
            <a:p>
              <a:r>
                <a:t>Colonial Pipeline Ransomware Incident </a:t>
              </a:r>
            </a:p>
          </p:txBody>
        </p:sp>
        <p:sp>
          <p:nvSpPr>
            <p:cNvPr id="96" name="TextBox 6"/>
            <p:cNvSpPr txBox="1"/>
            <p:nvPr/>
          </p:nvSpPr>
          <p:spPr>
            <a:xfrm>
              <a:off x="0" y="4664283"/>
              <a:ext cx="6879502" cy="12452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5000"/>
                </a:lnSpc>
                <a:defRPr sz="35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r>
                <a:t>Analyzing a major ransomware attack</a:t>
              </a:r>
            </a:p>
          </p:txBody>
        </p:sp>
      </p:grpSp>
      <p:grpSp>
        <p:nvGrpSpPr>
          <p:cNvPr id="100" name="Group 7"/>
          <p:cNvGrpSpPr/>
          <p:nvPr/>
        </p:nvGrpSpPr>
        <p:grpSpPr>
          <a:xfrm>
            <a:off x="10744200" y="7214310"/>
            <a:ext cx="5743575" cy="2215371"/>
            <a:chOff x="0" y="0"/>
            <a:chExt cx="5743575" cy="2215370"/>
          </a:xfrm>
        </p:grpSpPr>
        <p:sp>
          <p:nvSpPr>
            <p:cNvPr id="98" name="TextBox 8"/>
            <p:cNvSpPr txBox="1"/>
            <p:nvPr/>
          </p:nvSpPr>
          <p:spPr>
            <a:xfrm>
              <a:off x="0" y="703313"/>
              <a:ext cx="5743575" cy="1512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2410030019-EADUNUR HARINI SRI REDDY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2410030246-DEVARSHETTY PRAVALIKA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2410030298-V</a:t>
              </a:r>
              <a:r>
                <a:rPr lang="en-US" dirty="0"/>
                <a:t>ELAMALA </a:t>
              </a:r>
              <a:r>
                <a:rPr dirty="0"/>
                <a:t>TANUSRI</a:t>
              </a:r>
            </a:p>
            <a:p>
              <a:pPr>
                <a:lnSpc>
                  <a:spcPts val="3000"/>
                </a:lnSpc>
                <a:defRPr sz="2200">
                  <a:solidFill>
                    <a:srgbClr val="DCE6F1"/>
                  </a:solidFill>
                  <a:latin typeface="DM Sans"/>
                  <a:ea typeface="DM Sans"/>
                  <a:cs typeface="DM Sans"/>
                  <a:sym typeface="DM Sans"/>
                </a:defRPr>
              </a:pPr>
              <a:r>
                <a:rPr dirty="0"/>
                <a:t>2410030060-MAHITHA VARMA</a:t>
              </a:r>
            </a:p>
          </p:txBody>
        </p:sp>
        <p:sp>
          <p:nvSpPr>
            <p:cNvPr id="99" name="TextBox 9"/>
            <p:cNvSpPr txBox="1"/>
            <p:nvPr/>
          </p:nvSpPr>
          <p:spPr>
            <a:xfrm>
              <a:off x="0" y="0"/>
              <a:ext cx="5743575" cy="441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3600"/>
                </a:lnSpc>
                <a:defRPr sz="2600" b="1">
                  <a:solidFill>
                    <a:srgbClr val="DCE6F1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r>
                <a:t>PRESENTED BY</a:t>
              </a:r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2"/>
          <p:cNvSpPr txBox="1"/>
          <p:nvPr/>
        </p:nvSpPr>
        <p:spPr>
          <a:xfrm>
            <a:off x="944818" y="3113312"/>
            <a:ext cx="6385130" cy="3385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CE6F1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Project Title and Core Themes</a:t>
            </a:r>
            <a:endParaRPr dirty="0"/>
          </a:p>
        </p:txBody>
      </p:sp>
      <p:sp>
        <p:nvSpPr>
          <p:cNvPr id="103" name="TextBox 3"/>
          <p:cNvSpPr txBox="1"/>
          <p:nvPr/>
        </p:nvSpPr>
        <p:spPr>
          <a:xfrm>
            <a:off x="9296400" y="2951665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 dirty="0"/>
              <a:t>The </a:t>
            </a:r>
            <a:r>
              <a:rPr sz="2400" b="1" dirty="0">
                <a:latin typeface="DM Sans Bold"/>
                <a:ea typeface="DM Sans Bold"/>
                <a:cs typeface="DM Sans Bold"/>
                <a:sym typeface="DM Sans Bold"/>
              </a:rPr>
              <a:t>2021 Colonial Pipeline Ransomware Incident</a:t>
            </a:r>
            <a:r>
              <a:rPr sz="2400" dirty="0"/>
              <a:t> showcased how critical vulnerabilities in infrastructure can lead to severe operational disruptions and heightened national security concerns.</a:t>
            </a:r>
          </a:p>
        </p:txBody>
      </p:sp>
      <p:sp>
        <p:nvSpPr>
          <p:cNvPr id="104" name="TextBox 4"/>
          <p:cNvSpPr txBox="1"/>
          <p:nvPr/>
        </p:nvSpPr>
        <p:spPr>
          <a:xfrm>
            <a:off x="9296400" y="1949825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 dirty="0"/>
              <a:t>RANSOMWARE INCIDENT</a:t>
            </a:r>
          </a:p>
        </p:txBody>
      </p:sp>
      <p:sp>
        <p:nvSpPr>
          <p:cNvPr id="105" name="TextBox 5"/>
          <p:cNvSpPr txBox="1"/>
          <p:nvPr/>
        </p:nvSpPr>
        <p:spPr>
          <a:xfrm>
            <a:off x="9296400" y="6147940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/>
              <a:t>Understanding the </a:t>
            </a:r>
            <a:r>
              <a:rPr sz="2400" b="1">
                <a:latin typeface="DM Sans Bold"/>
                <a:ea typeface="DM Sans Bold"/>
                <a:cs typeface="DM Sans Bold"/>
                <a:sym typeface="DM Sans Bold"/>
              </a:rPr>
              <a:t>CTI Lifecycle phases</a:t>
            </a:r>
            <a:r>
              <a:rPr sz="2400"/>
              <a:t>—Planning, Collection, Processing, Analysis, Dissemination, and Feedback—provides a structured framework to evaluate and enhance responses to ransomware attacks effectively.</a:t>
            </a:r>
          </a:p>
        </p:txBody>
      </p:sp>
      <p:sp>
        <p:nvSpPr>
          <p:cNvPr id="106" name="TextBox 6"/>
          <p:cNvSpPr txBox="1"/>
          <p:nvPr/>
        </p:nvSpPr>
        <p:spPr>
          <a:xfrm>
            <a:off x="9296400" y="5252591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 dirty="0"/>
              <a:t>CTI LIFECYCLE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/>
          <p:cNvSpPr txBox="1"/>
          <p:nvPr/>
        </p:nvSpPr>
        <p:spPr>
          <a:xfrm>
            <a:off x="946969" y="3519554"/>
            <a:ext cx="5753100" cy="224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CE6F1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dirty="0"/>
              <a:t>Societal Impact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9296400" y="3176740"/>
            <a:ext cx="7191375" cy="3713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Disrupts critical services (healthcare, utilities, education)</a:t>
            </a: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Puts public safety and lives at risk during system outages</a:t>
            </a: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Causes financial losses for organizations and individuals</a:t>
            </a: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Leads to data privacy breaches and identity theft</a:t>
            </a:r>
          </a:p>
          <a:p>
            <a:pPr marL="342900" indent="-342900">
              <a:lnSpc>
                <a:spcPts val="2900"/>
              </a:lnSpc>
              <a:buFont typeface="Arial" panose="020B0604020202020204" pitchFamily="34" charset="0"/>
              <a:buChar char="•"/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lang="en-US" sz="2400" dirty="0"/>
              <a:t>Erodes public trust in digital systems and institutions</a:t>
            </a:r>
            <a:endParaRPr sz="2400" dirty="0"/>
          </a:p>
        </p:txBody>
      </p:sp>
      <p:sp>
        <p:nvSpPr>
          <p:cNvPr id="116" name="TextBox 4"/>
          <p:cNvSpPr txBox="1"/>
          <p:nvPr/>
        </p:nvSpPr>
        <p:spPr>
          <a:xfrm>
            <a:off x="9296400" y="2281391"/>
            <a:ext cx="7191375" cy="463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lang="en-US" sz="2800" dirty="0"/>
              <a:t>How Ransomware attacks affect us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22EB5-9E1C-B146-2D9F-D0ED4F63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2">
            <a:extLst>
              <a:ext uri="{FF2B5EF4-FFF2-40B4-BE49-F238E27FC236}">
                <a16:creationId xmlns:a16="http://schemas.microsoft.com/office/drawing/2014/main" id="{226BDD47-3412-5288-67D5-2420609336D8}"/>
              </a:ext>
            </a:extLst>
          </p:cNvPr>
          <p:cNvSpPr txBox="1"/>
          <p:nvPr/>
        </p:nvSpPr>
        <p:spPr>
          <a:xfrm>
            <a:off x="932220" y="2710413"/>
            <a:ext cx="6736941" cy="4514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CE6F1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US" dirty="0"/>
              <a:t>Effect of the Ransomware Attack and Response</a:t>
            </a:r>
            <a:endParaRPr dirty="0"/>
          </a:p>
        </p:txBody>
      </p:sp>
      <p:sp>
        <p:nvSpPr>
          <p:cNvPr id="115" name="TextBox 3">
            <a:extLst>
              <a:ext uri="{FF2B5EF4-FFF2-40B4-BE49-F238E27FC236}">
                <a16:creationId xmlns:a16="http://schemas.microsoft.com/office/drawing/2014/main" id="{34A71388-31F7-B358-D7ED-14FB621D0E03}"/>
              </a:ext>
            </a:extLst>
          </p:cNvPr>
          <p:cNvSpPr txBox="1"/>
          <p:nvPr/>
        </p:nvSpPr>
        <p:spPr>
          <a:xfrm>
            <a:off x="9296400" y="3176740"/>
            <a:ext cx="7191375" cy="1482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 dirty="0"/>
              <a:t>The Colonial Pipeline is vital, supplying </a:t>
            </a:r>
            <a:r>
              <a:rPr sz="2400" b="1" dirty="0">
                <a:latin typeface="DM Sans Bold"/>
                <a:ea typeface="DM Sans Bold"/>
                <a:cs typeface="DM Sans Bold"/>
                <a:sym typeface="DM Sans Bold"/>
              </a:rPr>
              <a:t>45% of the U.S. East Coast's fuel</a:t>
            </a:r>
            <a:r>
              <a:rPr sz="2400" dirty="0"/>
              <a:t>, making its security paramount for economic stability and public accessibility to energy resources.</a:t>
            </a:r>
          </a:p>
        </p:txBody>
      </p:sp>
      <p:sp>
        <p:nvSpPr>
          <p:cNvPr id="116" name="TextBox 4">
            <a:extLst>
              <a:ext uri="{FF2B5EF4-FFF2-40B4-BE49-F238E27FC236}">
                <a16:creationId xmlns:a16="http://schemas.microsoft.com/office/drawing/2014/main" id="{C269CCAD-58C5-26EF-8A71-FED91E85CED5}"/>
              </a:ext>
            </a:extLst>
          </p:cNvPr>
          <p:cNvSpPr txBox="1"/>
          <p:nvPr/>
        </p:nvSpPr>
        <p:spPr>
          <a:xfrm>
            <a:off x="9296400" y="2281391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 dirty="0"/>
              <a:t>CRITICAL FUEL SUPPLY</a:t>
            </a:r>
          </a:p>
        </p:txBody>
      </p:sp>
      <p:sp>
        <p:nvSpPr>
          <p:cNvPr id="117" name="TextBox 5">
            <a:extLst>
              <a:ext uri="{FF2B5EF4-FFF2-40B4-BE49-F238E27FC236}">
                <a16:creationId xmlns:a16="http://schemas.microsoft.com/office/drawing/2014/main" id="{C5DD7CA3-7F2A-0C70-0EFE-6EE14078516E}"/>
              </a:ext>
            </a:extLst>
          </p:cNvPr>
          <p:cNvSpPr txBox="1"/>
          <p:nvPr/>
        </p:nvSpPr>
        <p:spPr>
          <a:xfrm>
            <a:off x="9296400" y="5862790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pPr>
            <a:r>
              <a:rPr sz="2400"/>
              <a:t>The ransomware attack required </a:t>
            </a:r>
            <a:r>
              <a:rPr sz="2400" b="1">
                <a:latin typeface="DM Sans Bold"/>
                <a:ea typeface="DM Sans Bold"/>
                <a:cs typeface="DM Sans Bold"/>
                <a:sym typeface="DM Sans Bold"/>
              </a:rPr>
              <a:t>elevated intelligence efforts</a:t>
            </a:r>
            <a:r>
              <a:rPr sz="2400"/>
              <a:t>, transforming the incident into a national security matter, ultimately protecting the public from potential service disruptions and ensuring operational continuity.</a:t>
            </a:r>
          </a:p>
        </p:txBody>
      </p:sp>
      <p:sp>
        <p:nvSpPr>
          <p:cNvPr id="118" name="TextBox 6">
            <a:extLst>
              <a:ext uri="{FF2B5EF4-FFF2-40B4-BE49-F238E27FC236}">
                <a16:creationId xmlns:a16="http://schemas.microsoft.com/office/drawing/2014/main" id="{1234D7AD-A8A6-E507-E31B-440022C20398}"/>
              </a:ext>
            </a:extLst>
          </p:cNvPr>
          <p:cNvSpPr txBox="1"/>
          <p:nvPr/>
        </p:nvSpPr>
        <p:spPr>
          <a:xfrm>
            <a:off x="9296400" y="4967441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/>
              <a:t>NATIONAL SECURITY RESPONSE</a:t>
            </a:r>
          </a:p>
        </p:txBody>
      </p:sp>
    </p:spTree>
    <p:extLst>
      <p:ext uri="{BB962C8B-B14F-4D97-AF65-F5344CB8AC3E}">
        <p14:creationId xmlns:p14="http://schemas.microsoft.com/office/powerpoint/2010/main" val="409066504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2"/>
          <p:cNvSpPr txBox="1"/>
          <p:nvPr/>
        </p:nvSpPr>
        <p:spPr>
          <a:xfrm>
            <a:off x="873227" y="3519554"/>
            <a:ext cx="5753100" cy="2245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CE6F1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dirty="0"/>
              <a:t>Novelty and Policy</a:t>
            </a:r>
          </a:p>
        </p:txBody>
      </p:sp>
      <p:sp>
        <p:nvSpPr>
          <p:cNvPr id="121" name="TextBox 3"/>
          <p:cNvSpPr txBox="1"/>
          <p:nvPr/>
        </p:nvSpPr>
        <p:spPr>
          <a:xfrm>
            <a:off x="9679859" y="2113935"/>
            <a:ext cx="7191375" cy="1482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Ransomware infected IT billing systems, not 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Preventive shutdown of fuel pipeline operations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Demonstrated critical IT–OT interdependence risk</a:t>
            </a:r>
            <a:endParaRPr sz="2400" dirty="0"/>
          </a:p>
        </p:txBody>
      </p:sp>
      <p:sp>
        <p:nvSpPr>
          <p:cNvPr id="122" name="TextBox 4"/>
          <p:cNvSpPr txBox="1"/>
          <p:nvPr/>
        </p:nvSpPr>
        <p:spPr>
          <a:xfrm>
            <a:off x="9679859" y="1218586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 dirty="0"/>
              <a:t>UNIQUE ATTACK VECTOR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9679859" y="4799985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Triggered U.S. federal cybersecurity mandates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Led to mandatory reporting for critical infrastructure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Strengthened public–private threat intelligence sharing</a:t>
            </a:r>
            <a:endParaRPr sz="2400" dirty="0"/>
          </a:p>
        </p:txBody>
      </p:sp>
      <p:sp>
        <p:nvSpPr>
          <p:cNvPr id="124" name="TextBox 6"/>
          <p:cNvSpPr txBox="1"/>
          <p:nvPr/>
        </p:nvSpPr>
        <p:spPr>
          <a:xfrm>
            <a:off x="9679859" y="3904636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/>
              <a:t>POLICY TRANSFORMATION</a:t>
            </a: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D50D5F4-4A9D-B435-0F1C-6D6650ED9FA2}"/>
              </a:ext>
            </a:extLst>
          </p:cNvPr>
          <p:cNvSpPr txBox="1"/>
          <p:nvPr/>
        </p:nvSpPr>
        <p:spPr>
          <a:xfrm>
            <a:off x="9679859" y="7996260"/>
            <a:ext cx="7191375" cy="738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DCE6F1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want to help improvise Ransomware detection based on </a:t>
            </a:r>
            <a:r>
              <a:rPr lang="en-IN" sz="2400" dirty="0">
                <a:solidFill>
                  <a:schemeClr val="bg1"/>
                </a:solidFill>
              </a:rPr>
              <a:t>behavioural patterns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126F5189-E8EE-A628-D223-910B3D21BE2D}"/>
              </a:ext>
            </a:extLst>
          </p:cNvPr>
          <p:cNvSpPr txBox="1"/>
          <p:nvPr/>
        </p:nvSpPr>
        <p:spPr>
          <a:xfrm>
            <a:off x="9679859" y="7100911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lang="en-IN" sz="2800" dirty="0"/>
              <a:t>WHAT WE WANT TO DO</a:t>
            </a:r>
            <a:endParaRPr sz="2800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 txBox="1"/>
          <p:nvPr/>
        </p:nvSpPr>
        <p:spPr>
          <a:xfrm>
            <a:off x="1212438" y="3790565"/>
            <a:ext cx="6043767" cy="2257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800"/>
              </a:lnSpc>
              <a:defRPr sz="8000">
                <a:solidFill>
                  <a:srgbClr val="DCE6F1"/>
                </a:solidFill>
                <a:latin typeface="Georgia Pro Light"/>
                <a:ea typeface="Georgia Pro Light"/>
                <a:cs typeface="Georgia Pro Light"/>
                <a:sym typeface="Georgia Pro Light"/>
              </a:defRPr>
            </a:lvl1pPr>
          </a:lstStyle>
          <a:p>
            <a:r>
              <a:rPr lang="en-IN" dirty="0"/>
              <a:t>Post-Incident Analysis</a:t>
            </a:r>
          </a:p>
        </p:txBody>
      </p:sp>
      <p:sp>
        <p:nvSpPr>
          <p:cNvPr id="109" name="TextBox 3"/>
          <p:cNvSpPr txBox="1"/>
          <p:nvPr/>
        </p:nvSpPr>
        <p:spPr>
          <a:xfrm>
            <a:off x="9144000" y="2618153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pPr>
            <a:r>
              <a:rPr sz="2400" dirty="0"/>
              <a:t>Blocking malicious IPs</a:t>
            </a:r>
            <a:r>
              <a:rPr sz="2400" b="0" dirty="0">
                <a:latin typeface="DM Sans"/>
                <a:ea typeface="DM Sans"/>
                <a:cs typeface="DM Sans"/>
                <a:sym typeface="DM Sans"/>
              </a:rPr>
              <a:t> and disabling compromised accounts were crucial for immediate containment, minimizing the risk of further attacks and ensuring operational safety during the recovery phase.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9144000" y="1722804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 dirty="0"/>
              <a:t>IMMEDIATE CONTAINMENT</a:t>
            </a:r>
          </a:p>
        </p:txBody>
      </p:sp>
      <p:sp>
        <p:nvSpPr>
          <p:cNvPr id="111" name="TextBox 5"/>
          <p:cNvSpPr txBox="1"/>
          <p:nvPr/>
        </p:nvSpPr>
        <p:spPr>
          <a:xfrm>
            <a:off x="9144000" y="5814428"/>
            <a:ext cx="7191375" cy="1854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2900"/>
              </a:lnSpc>
              <a:defRPr sz="20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pPr>
            <a:r>
              <a:rPr sz="2400"/>
              <a:t>Implementing security fixes</a:t>
            </a:r>
            <a:r>
              <a:rPr sz="2400" b="0">
                <a:latin typeface="DM Sans"/>
                <a:ea typeface="DM Sans"/>
                <a:cs typeface="DM Sans"/>
                <a:sym typeface="DM Sans"/>
              </a:rPr>
              <a:t> such as mandatory multi-factor authentication and network segmentation provides sustainable protection, derived from feedback loops that enhance future resilience against similar cyber threats.</a:t>
            </a:r>
          </a:p>
        </p:txBody>
      </p:sp>
      <p:sp>
        <p:nvSpPr>
          <p:cNvPr id="112" name="TextBox 6"/>
          <p:cNvSpPr txBox="1"/>
          <p:nvPr/>
        </p:nvSpPr>
        <p:spPr>
          <a:xfrm>
            <a:off x="9144000" y="4919079"/>
            <a:ext cx="7191375" cy="44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sz="2600" b="1">
                <a:solidFill>
                  <a:srgbClr val="DCE6F1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sz="2800"/>
              <a:t>LONG-TERM SOLUTIONS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2"/>
          <p:cNvSpPr txBox="1"/>
          <p:nvPr/>
        </p:nvSpPr>
        <p:spPr>
          <a:xfrm>
            <a:off x="6041571" y="3931180"/>
            <a:ext cx="6204857" cy="1212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algn="ctr">
              <a:lnSpc>
                <a:spcPts val="9900"/>
              </a:lnSpc>
              <a:defRPr sz="7100" b="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defRPr>
            </a:lvl1pPr>
          </a:lstStyle>
          <a:p>
            <a:r>
              <a:rPr dirty="0"/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345</Words>
  <Application>Microsoft Office PowerPoint</Application>
  <PresentationFormat>Custom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DM Sans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Harini Sri Reddy</cp:lastModifiedBy>
  <cp:revision>8</cp:revision>
  <dcterms:modified xsi:type="dcterms:W3CDTF">2026-02-20T15:32:38Z</dcterms:modified>
</cp:coreProperties>
</file>