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7929" autoAdjust="0"/>
  </p:normalViewPr>
  <p:slideViewPr>
    <p:cSldViewPr snapToGrid="0">
      <p:cViewPr varScale="1">
        <p:scale>
          <a:sx n="32" d="100"/>
          <a:sy n="32" d="100"/>
        </p:scale>
        <p:origin x="200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reviewed academic journals, government reports, and cybersecurity analyses related to the Colonial Pipeline ransomware attack of 2021.</a:t>
            </a:r>
          </a:p>
          <a:p>
            <a:r>
              <a:rPr lang="en-US" dirty="0"/>
              <a:t>The literature covered three major dimensions:</a:t>
            </a:r>
          </a:p>
          <a:p>
            <a:pPr lvl="1"/>
            <a:r>
              <a:rPr lang="en-US" dirty="0"/>
              <a:t>Technical mechanisms of ransomware attacks</a:t>
            </a:r>
          </a:p>
          <a:p>
            <a:pPr lvl="1"/>
            <a:r>
              <a:rPr lang="en-US" dirty="0"/>
              <a:t>Infrastructure dependency risks</a:t>
            </a:r>
          </a:p>
          <a:p>
            <a:pPr lvl="1"/>
            <a:r>
              <a:rPr lang="en-US" dirty="0"/>
              <a:t>Policy and governance implications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Our evaluation found that while technical analysis is strong in existing research, integration between cybersecurity and infrastructure resilience remains limited.</a:t>
            </a:r>
          </a:p>
        </p:txBody>
      </p:sp>
    </p:spTree>
    <p:extLst>
      <p:ext uri="{BB962C8B-B14F-4D97-AF65-F5344CB8AC3E}">
        <p14:creationId xmlns:p14="http://schemas.microsoft.com/office/powerpoint/2010/main" val="2132882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literature consistently identifies ransomware as an evolving threat model involving encryption-based extortion.</a:t>
            </a:r>
          </a:p>
          <a:p>
            <a:r>
              <a:rPr lang="en-US" dirty="0"/>
              <a:t>Several reports attribute the Colonial Pipeline attack to the ransomware group </a:t>
            </a:r>
            <a:r>
              <a:rPr lang="en-US" dirty="0" err="1"/>
              <a:t>DarkSide</a:t>
            </a:r>
            <a:r>
              <a:rPr lang="en-US" dirty="0"/>
              <a:t>, highlighting the role of ransomware-as-a-service (RaaS).</a:t>
            </a:r>
          </a:p>
          <a:p>
            <a:r>
              <a:rPr lang="en-US" dirty="0"/>
              <a:t>Research also emphasizes:</a:t>
            </a:r>
          </a:p>
          <a:p>
            <a:pPr lvl="1"/>
            <a:r>
              <a:rPr lang="en-US" dirty="0"/>
              <a:t>Weak credential management</a:t>
            </a:r>
          </a:p>
          <a:p>
            <a:pPr lvl="1"/>
            <a:r>
              <a:rPr lang="en-US" dirty="0"/>
              <a:t>Lack of multi-factor authentication</a:t>
            </a:r>
          </a:p>
          <a:p>
            <a:pPr lvl="1"/>
            <a:r>
              <a:rPr lang="en-US" dirty="0"/>
              <a:t>Poor network segmentation</a:t>
            </a:r>
          </a:p>
          <a:p>
            <a:r>
              <a:rPr lang="en-US" dirty="0"/>
              <a:t>However, many studies focus only on technical aspects and ignore broader societal and national security implications.</a:t>
            </a:r>
          </a:p>
        </p:txBody>
      </p:sp>
    </p:spTree>
    <p:extLst>
      <p:ext uri="{BB962C8B-B14F-4D97-AF65-F5344CB8AC3E}">
        <p14:creationId xmlns:p14="http://schemas.microsoft.com/office/powerpoint/2010/main" val="41135457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technical focus of the literature examines how malware infiltrates enterprise systems.</a:t>
            </a:r>
          </a:p>
          <a:p>
            <a:r>
              <a:rPr lang="en-US" dirty="0"/>
              <a:t>In the Colonial Pipeline case, the attack originated through compromised credentials in the IT environment.</a:t>
            </a:r>
          </a:p>
          <a:p>
            <a:r>
              <a:rPr lang="en-US" dirty="0"/>
              <a:t>Key vulnerabilities identified in literature include:</a:t>
            </a:r>
          </a:p>
          <a:p>
            <a:pPr lvl="1"/>
            <a:r>
              <a:rPr lang="en-US" dirty="0"/>
              <a:t>Inadequate authentication mechanisms</a:t>
            </a:r>
          </a:p>
          <a:p>
            <a:pPr lvl="1"/>
            <a:r>
              <a:rPr lang="en-US" dirty="0"/>
              <a:t>Unmonitored remote access</a:t>
            </a:r>
          </a:p>
          <a:p>
            <a:pPr lvl="1"/>
            <a:r>
              <a:rPr lang="en-US" dirty="0"/>
              <a:t>Insufficient threat intelligence integration</a:t>
            </a:r>
          </a:p>
          <a:p>
            <a:r>
              <a:rPr lang="en-US" dirty="0"/>
              <a:t>Malware execution typically follows stages:</a:t>
            </a:r>
          </a:p>
          <a:p>
            <a:pPr lvl="1"/>
            <a:r>
              <a:rPr lang="en-US" dirty="0"/>
              <a:t>Initial access</a:t>
            </a:r>
          </a:p>
          <a:p>
            <a:pPr lvl="1"/>
            <a:r>
              <a:rPr lang="en-US" dirty="0"/>
              <a:t>Privilege escalation</a:t>
            </a:r>
          </a:p>
          <a:p>
            <a:pPr lvl="1"/>
            <a:r>
              <a:rPr lang="en-US" dirty="0"/>
              <a:t>Lateral movement</a:t>
            </a:r>
          </a:p>
          <a:p>
            <a:pPr lvl="1"/>
            <a:r>
              <a:rPr lang="en-US" dirty="0"/>
              <a:t>Data encryption</a:t>
            </a:r>
          </a:p>
          <a:p>
            <a:r>
              <a:rPr lang="en-US" dirty="0"/>
              <a:t>The literature strongly supports proactive controls such as:</a:t>
            </a:r>
          </a:p>
          <a:p>
            <a:pPr lvl="1"/>
            <a:r>
              <a:rPr lang="en-US" dirty="0"/>
              <a:t>Multi-factor authentication (MFA)</a:t>
            </a:r>
          </a:p>
          <a:p>
            <a:pPr lvl="1"/>
            <a:r>
              <a:rPr lang="en-US" dirty="0"/>
              <a:t>Endpoint detection and response (EDR)</a:t>
            </a:r>
          </a:p>
          <a:p>
            <a:pPr lvl="1"/>
            <a:r>
              <a:rPr lang="en-US" dirty="0"/>
              <a:t>Zero-trust architecture</a:t>
            </a:r>
          </a:p>
          <a:p>
            <a:r>
              <a:rPr lang="en-US" dirty="0"/>
              <a:t>Our finding: Technical defenses must be intelligence-driven rather than reactive.</a:t>
            </a:r>
          </a:p>
        </p:txBody>
      </p:sp>
    </p:spTree>
    <p:extLst>
      <p:ext uri="{BB962C8B-B14F-4D97-AF65-F5344CB8AC3E}">
        <p14:creationId xmlns:p14="http://schemas.microsoft.com/office/powerpoint/2010/main" val="40379231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Dependency risk refers to the interconnection between IT systems and operational technology (OT).</a:t>
            </a:r>
          </a:p>
          <a:p>
            <a:r>
              <a:rPr lang="en-US" dirty="0"/>
              <a:t>In the Colonial Pipeline incident, ransomware infected IT billing systems, but operations were shut down preventively.</a:t>
            </a:r>
          </a:p>
          <a:p>
            <a:r>
              <a:rPr lang="en-US" dirty="0"/>
              <a:t>This demonstrates that even non-operational system breaches can disrupt physical infrastructure.</a:t>
            </a:r>
          </a:p>
          <a:p>
            <a:r>
              <a:rPr lang="en-US" dirty="0"/>
              <a:t>Literature highlights that critical infrastructure sectors—energy, healthcare, transportation—are highly interdependent.</a:t>
            </a:r>
          </a:p>
          <a:p>
            <a:r>
              <a:rPr lang="en-US" dirty="0"/>
              <a:t>A cyber vulnerability in one layer can cascade into economic and public safety consequences.</a:t>
            </a:r>
          </a:p>
          <a:p>
            <a:r>
              <a:rPr lang="en-US" dirty="0"/>
              <a:t>Our analysis shows that cybersecurity cannot be isolated from infrastructure resilience planning.</a:t>
            </a:r>
          </a:p>
          <a:p>
            <a:r>
              <a:rPr lang="en-US" dirty="0"/>
              <a:t>This aligns with systems theory, where interconnected components amplify systemic risk.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29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Through our review, we identified several gaps:</a:t>
            </a:r>
          </a:p>
          <a:p>
            <a:pPr lvl="1"/>
            <a:r>
              <a:rPr lang="en-US" dirty="0"/>
              <a:t>Limited integration of Cyber Threat Intelligence (CTI) lifecycle analysis in case studies.</a:t>
            </a:r>
          </a:p>
          <a:p>
            <a:pPr lvl="1"/>
            <a:r>
              <a:rPr lang="en-US" dirty="0"/>
              <a:t>Insufficient exploration of long-term policy transformation post-incident.</a:t>
            </a:r>
          </a:p>
          <a:p>
            <a:pPr lvl="1"/>
            <a:r>
              <a:rPr lang="en-US" dirty="0"/>
              <a:t>Lack of quantitative assessment of societal impact.</a:t>
            </a:r>
          </a:p>
          <a:p>
            <a:r>
              <a:rPr lang="en-US" dirty="0"/>
              <a:t>Many studies focus heavily on technical breach mechanics but underemphasize strategic intelligence response.</a:t>
            </a:r>
          </a:p>
          <a:p>
            <a:r>
              <a:rPr lang="en-US" dirty="0"/>
              <a:t>There is also limited research on cross-sector intelligence sharing effectiveness.</a:t>
            </a:r>
          </a:p>
          <a:p>
            <a:r>
              <a:rPr lang="en-US" dirty="0"/>
              <a:t>Our project addresses these gaps by applying a structured CTI lifecycle framework to evaluate both technical and strategic responses.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6159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conclusion, the literature provides strong technical insight into ransomware attack mechanisms.</a:t>
            </a:r>
          </a:p>
          <a:p>
            <a:r>
              <a:rPr lang="en-US" dirty="0"/>
              <a:t>However, it often lacks integration between:</a:t>
            </a:r>
          </a:p>
          <a:p>
            <a:pPr lvl="1"/>
            <a:r>
              <a:rPr lang="en-US" dirty="0"/>
              <a:t>Technical cybersecurity analysis</a:t>
            </a:r>
          </a:p>
          <a:p>
            <a:pPr lvl="1"/>
            <a:r>
              <a:rPr lang="en-US" dirty="0"/>
              <a:t>Infrastructure dependency risk</a:t>
            </a:r>
          </a:p>
          <a:p>
            <a:pPr lvl="1"/>
            <a:r>
              <a:rPr lang="en-US" dirty="0"/>
              <a:t>National security and policy reform</a:t>
            </a:r>
          </a:p>
          <a:p>
            <a:r>
              <a:rPr lang="en-US" dirty="0"/>
              <a:t>The Colonial Pipeline case demonstrates that ransomware is not merely an IT issue but a systemic infrastructure threat.</a:t>
            </a:r>
          </a:p>
          <a:p>
            <a:r>
              <a:rPr lang="en-US" dirty="0"/>
              <a:t>Our research contributes by synthesizing technical, operational, and intelligence perspectives.</a:t>
            </a:r>
          </a:p>
          <a:p>
            <a:r>
              <a:rPr lang="en-US" dirty="0"/>
              <a:t>Ultimately, effective ransomware defense requires:</a:t>
            </a:r>
          </a:p>
          <a:p>
            <a:pPr lvl="1"/>
            <a:r>
              <a:rPr lang="en-US" dirty="0"/>
              <a:t>Continuous threat intelligence</a:t>
            </a:r>
          </a:p>
          <a:p>
            <a:pPr lvl="1"/>
            <a:r>
              <a:rPr lang="en-US" dirty="0"/>
              <a:t>Cross-sector collaboration</a:t>
            </a:r>
          </a:p>
          <a:p>
            <a:pPr lvl="1"/>
            <a:r>
              <a:rPr lang="en-US" dirty="0"/>
              <a:t>Policy-backed cybersecurity mandates</a:t>
            </a:r>
          </a:p>
          <a:p>
            <a:r>
              <a:rPr lang="en-US" dirty="0"/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2013983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eeform 3"/>
          <p:cNvSpPr/>
          <p:nvPr/>
        </p:nvSpPr>
        <p:spPr>
          <a:xfrm>
            <a:off x="-1" y="-1"/>
            <a:ext cx="8991601" cy="1028700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97" name="Group 7"/>
          <p:cNvGrpSpPr/>
          <p:nvPr/>
        </p:nvGrpSpPr>
        <p:grpSpPr>
          <a:xfrm>
            <a:off x="10172700" y="544500"/>
            <a:ext cx="7275190" cy="5852685"/>
            <a:chOff x="0" y="0"/>
            <a:chExt cx="7275189" cy="5852683"/>
          </a:xfrm>
        </p:grpSpPr>
        <p:sp>
          <p:nvSpPr>
            <p:cNvPr id="95" name="TextBox 8"/>
            <p:cNvSpPr txBox="1"/>
            <p:nvPr/>
          </p:nvSpPr>
          <p:spPr>
            <a:xfrm>
              <a:off x="0" y="0"/>
              <a:ext cx="7275190" cy="49202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>
                <a:lnSpc>
                  <a:spcPts val="9100"/>
                </a:lnSpc>
                <a:defRPr sz="9100">
                  <a:solidFill>
                    <a:srgbClr val="DCE6F1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defRPr>
              </a:lvl1pPr>
            </a:lstStyle>
            <a:p>
              <a:r>
                <a:t>Colonial Pipeline Ransomware Incident </a:t>
              </a:r>
            </a:p>
          </p:txBody>
        </p:sp>
        <p:sp>
          <p:nvSpPr>
            <p:cNvPr id="96" name="TextBox 9"/>
            <p:cNvSpPr txBox="1"/>
            <p:nvPr/>
          </p:nvSpPr>
          <p:spPr>
            <a:xfrm>
              <a:off x="3736" y="4537188"/>
              <a:ext cx="7267718" cy="13154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>
                <a:lnSpc>
                  <a:spcPts val="5000"/>
                </a:lnSpc>
                <a:defRPr sz="3500">
                  <a:solidFill>
                    <a:srgbClr val="D8DEE9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</a:lstStyle>
            <a:p>
              <a:r>
                <a:t>Lifecycle and Colonial Pipeline Attack</a:t>
              </a:r>
            </a:p>
          </p:txBody>
        </p:sp>
      </p:grpSp>
      <p:grpSp>
        <p:nvGrpSpPr>
          <p:cNvPr id="100" name="Group 10"/>
          <p:cNvGrpSpPr/>
          <p:nvPr/>
        </p:nvGrpSpPr>
        <p:grpSpPr>
          <a:xfrm>
            <a:off x="10139289" y="6609098"/>
            <a:ext cx="5743576" cy="2066284"/>
            <a:chOff x="0" y="0"/>
            <a:chExt cx="5743575" cy="2066283"/>
          </a:xfrm>
        </p:grpSpPr>
        <p:sp>
          <p:nvSpPr>
            <p:cNvPr id="98" name="TextBox 11"/>
            <p:cNvSpPr txBox="1"/>
            <p:nvPr/>
          </p:nvSpPr>
          <p:spPr>
            <a:xfrm>
              <a:off x="0" y="554227"/>
              <a:ext cx="5743575" cy="15120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lnSpc>
                  <a:spcPts val="3000"/>
                </a:lnSpc>
                <a:defRPr sz="2200">
                  <a:solidFill>
                    <a:srgbClr val="D8DEE9"/>
                  </a:solidFill>
                  <a:latin typeface="DM Sans"/>
                  <a:ea typeface="DM Sans"/>
                  <a:cs typeface="DM Sans"/>
                  <a:sym typeface="DM Sans"/>
                </a:defRPr>
              </a:pPr>
              <a:r>
                <a:rPr dirty="0"/>
                <a:t>2410030019-EADUNUR HARINI SRI REDDY</a:t>
              </a:r>
              <a:endParaRPr dirty="0">
                <a:solidFill>
                  <a:srgbClr val="DCE6F1"/>
                </a:solidFill>
              </a:endParaRPr>
            </a:p>
            <a:p>
              <a:pPr>
                <a:lnSpc>
                  <a:spcPts val="3000"/>
                </a:lnSpc>
                <a:defRPr sz="2200">
                  <a:solidFill>
                    <a:srgbClr val="DCE6F1"/>
                  </a:solidFill>
                  <a:latin typeface="DM Sans"/>
                  <a:ea typeface="DM Sans"/>
                  <a:cs typeface="DM Sans"/>
                  <a:sym typeface="DM Sans"/>
                </a:defRPr>
              </a:pPr>
              <a:r>
                <a:rPr dirty="0"/>
                <a:t>2410030246-DEVARSHETTY PRAVALIKA</a:t>
              </a:r>
            </a:p>
            <a:p>
              <a:pPr>
                <a:lnSpc>
                  <a:spcPts val="3000"/>
                </a:lnSpc>
                <a:defRPr sz="2200">
                  <a:solidFill>
                    <a:srgbClr val="DCE6F1"/>
                  </a:solidFill>
                  <a:latin typeface="DM Sans"/>
                  <a:ea typeface="DM Sans"/>
                  <a:cs typeface="DM Sans"/>
                  <a:sym typeface="DM Sans"/>
                </a:defRPr>
              </a:pPr>
              <a:r>
                <a:rPr dirty="0"/>
                <a:t>2410030298-V.TANUSRI</a:t>
              </a:r>
            </a:p>
            <a:p>
              <a:pPr>
                <a:lnSpc>
                  <a:spcPts val="3000"/>
                </a:lnSpc>
                <a:defRPr sz="2200">
                  <a:solidFill>
                    <a:srgbClr val="DCE6F1"/>
                  </a:solidFill>
                  <a:latin typeface="DM Sans"/>
                  <a:ea typeface="DM Sans"/>
                  <a:cs typeface="DM Sans"/>
                  <a:sym typeface="DM Sans"/>
                </a:defRPr>
              </a:pPr>
              <a:r>
                <a:rPr dirty="0"/>
                <a:t>2410030060-MAHITHA VARMA</a:t>
              </a:r>
            </a:p>
          </p:txBody>
        </p:sp>
        <p:sp>
          <p:nvSpPr>
            <p:cNvPr id="99" name="TextBox 12"/>
            <p:cNvSpPr txBox="1"/>
            <p:nvPr/>
          </p:nvSpPr>
          <p:spPr>
            <a:xfrm>
              <a:off x="0" y="0"/>
              <a:ext cx="5743575" cy="441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3600"/>
                </a:lnSpc>
                <a:defRPr sz="2600" b="1">
                  <a:solidFill>
                    <a:srgbClr val="D8DEE9"/>
                  </a:solidFill>
                  <a:latin typeface="DM Sans Bold"/>
                  <a:ea typeface="DM Sans Bold"/>
                  <a:cs typeface="DM Sans Bold"/>
                  <a:sym typeface="DM Sans Bold"/>
                </a:defRPr>
              </a:lvl1pPr>
            </a:lstStyle>
            <a:p>
              <a:r>
                <a:t>PRESENTED BY</a:t>
              </a:r>
            </a:p>
          </p:txBody>
        </p:sp>
      </p:grp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42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Freeform 3"/>
          <p:cNvSpPr/>
          <p:nvPr/>
        </p:nvSpPr>
        <p:spPr>
          <a:xfrm>
            <a:off x="10734674" y="0"/>
            <a:ext cx="7553326" cy="1028700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105" name="Group 4"/>
          <p:cNvGrpSpPr/>
          <p:nvPr/>
        </p:nvGrpSpPr>
        <p:grpSpPr>
          <a:xfrm>
            <a:off x="819150" y="2722537"/>
            <a:ext cx="8324850" cy="4082794"/>
            <a:chOff x="0" y="0"/>
            <a:chExt cx="8324850" cy="4082793"/>
          </a:xfrm>
        </p:grpSpPr>
        <p:sp>
          <p:nvSpPr>
            <p:cNvPr id="103" name="TextBox 5"/>
            <p:cNvSpPr txBox="1"/>
            <p:nvPr/>
          </p:nvSpPr>
          <p:spPr>
            <a:xfrm>
              <a:off x="0" y="0"/>
              <a:ext cx="8324850" cy="2245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8800"/>
                </a:lnSpc>
                <a:defRPr sz="8000">
                  <a:solidFill>
                    <a:srgbClr val="D8DEE9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defRPr>
              </a:lvl1pPr>
            </a:lstStyle>
            <a:p>
              <a:r>
                <a:t>Relevance of Project Title</a:t>
              </a:r>
            </a:p>
          </p:txBody>
        </p:sp>
        <p:sp>
          <p:nvSpPr>
            <p:cNvPr id="104" name="TextBox 6"/>
            <p:cNvSpPr txBox="1"/>
            <p:nvPr/>
          </p:nvSpPr>
          <p:spPr>
            <a:xfrm>
              <a:off x="0" y="2600271"/>
              <a:ext cx="8324850" cy="14825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lnSpc>
                  <a:spcPts val="2900"/>
                </a:lnSpc>
                <a:defRPr sz="2100">
                  <a:solidFill>
                    <a:srgbClr val="D8DEE9"/>
                  </a:solidFill>
                  <a:latin typeface="DM Sans"/>
                  <a:ea typeface="DM Sans"/>
                  <a:cs typeface="DM Sans"/>
                  <a:sym typeface="DM Sans"/>
                </a:defRPr>
              </a:pPr>
              <a:r>
                <a:rPr sz="2400" dirty="0"/>
                <a:t>This project highlights the critical connection between the </a:t>
              </a:r>
              <a:r>
                <a:rPr sz="2400" b="1" dirty="0" err="1">
                  <a:latin typeface="DM Sans Bold"/>
                  <a:ea typeface="DM Sans Bold"/>
                  <a:cs typeface="DM Sans Bold"/>
                  <a:sym typeface="DM Sans Bold"/>
                </a:rPr>
                <a:t>DarkSide</a:t>
              </a:r>
              <a:r>
                <a:rPr sz="2400" b="1" dirty="0">
                  <a:latin typeface="DM Sans Bold"/>
                  <a:ea typeface="DM Sans Bold"/>
                  <a:cs typeface="DM Sans Bold"/>
                  <a:sym typeface="DM Sans Bold"/>
                </a:rPr>
                <a:t> ransomware attack</a:t>
              </a:r>
              <a:r>
                <a:rPr sz="2400" dirty="0"/>
                <a:t> and the Cyber Threat Intelligence Lifecycle, emphasizing the importance of proactive defense strategies to mitigate societal impact.</a:t>
              </a:r>
            </a:p>
          </p:txBody>
        </p:sp>
      </p:grp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2"/>
          <p:cNvSpPr txBox="1"/>
          <p:nvPr/>
        </p:nvSpPr>
        <p:spPr>
          <a:xfrm>
            <a:off x="279173" y="733425"/>
            <a:ext cx="17961514" cy="1127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t>Depth and Quality of Literature Review</a:t>
            </a:r>
          </a:p>
        </p:txBody>
      </p:sp>
      <p:graphicFrame>
        <p:nvGraphicFramePr>
          <p:cNvPr id="108" name="Table 1-4"/>
          <p:cNvGraphicFramePr/>
          <p:nvPr>
            <p:extLst>
              <p:ext uri="{D42A27DB-BD31-4B8C-83A1-F6EECF244321}">
                <p14:modId xmlns:p14="http://schemas.microsoft.com/office/powerpoint/2010/main" val="2056347079"/>
              </p:ext>
            </p:extLst>
          </p:nvPr>
        </p:nvGraphicFramePr>
        <p:xfrm>
          <a:off x="670468" y="1980516"/>
          <a:ext cx="16947062" cy="7781933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2117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13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5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33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46217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000" b="1" dirty="0">
                          <a:solidFill>
                            <a:srgbClr val="1F1F1F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Source / Author</a:t>
                      </a:r>
                    </a:p>
                  </a:txBody>
                  <a:tcPr marL="152400" marR="152400" marT="101600" marB="101600" anchor="ctr" horzOverflow="overflow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000" b="1">
                          <a:solidFill>
                            <a:srgbClr val="1F1F1F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Key Focus of Study</a:t>
                      </a:r>
                    </a:p>
                  </a:txBody>
                  <a:tcPr marL="152400" marR="152400" marT="101600" marB="101600" anchor="ctr" horzOverflow="overflow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000" b="1">
                          <a:solidFill>
                            <a:srgbClr val="1F1F1F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Critical Findings</a:t>
                      </a:r>
                    </a:p>
                  </a:txBody>
                  <a:tcPr marL="152400" marR="152400" marT="101600" marB="101600" anchor="ctr" horzOverflow="overflow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000" b="1">
                          <a:solidFill>
                            <a:srgbClr val="1F1F1F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Identified Gap (What's Missing)</a:t>
                      </a:r>
                    </a:p>
                  </a:txBody>
                  <a:tcPr marL="152400" marR="152400" marT="101600" marB="101600" anchor="ctr" horzOverflow="overflow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3929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000" b="1">
                          <a:solidFill>
                            <a:srgbClr val="1F1F1F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CISA / FBI Joint Report</a:t>
                      </a:r>
                    </a:p>
                  </a:txBody>
                  <a:tcPr marL="152400" marR="152400" marT="101600" marB="101600" anchor="ctr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000">
                          <a:solidFill>
                            <a:srgbClr val="1F1F1F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Technical entry points and mitigation.</a:t>
                      </a:r>
                    </a:p>
                  </a:txBody>
                  <a:tcPr marL="152400" marR="152400" marT="101600" marB="101600" anchor="ctr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000">
                          <a:solidFill>
                            <a:srgbClr val="1F1F1F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The attack started via a compromised VPN account that lacked Multi-Factor Authentication (MFA).</a:t>
                      </a:r>
                    </a:p>
                  </a:txBody>
                  <a:tcPr marL="152400" marR="152400" marT="101600" marB="101600" anchor="ctr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000">
                          <a:solidFill>
                            <a:srgbClr val="1F1F1F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Does not focus on the psychological impact on the public or "panic buying" behavior.</a:t>
                      </a:r>
                    </a:p>
                  </a:txBody>
                  <a:tcPr marL="152400" marR="152400" marT="101600" marB="1016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3929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000" b="1">
                          <a:solidFill>
                            <a:srgbClr val="1F1F1F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DarkSide RaaS Analysis</a:t>
                      </a:r>
                    </a:p>
                  </a:txBody>
                  <a:tcPr marL="152400" marR="152400" marT="101600" marB="101600" anchor="ctr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000">
                          <a:solidFill>
                            <a:srgbClr val="1F1F1F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The "Ransomware-as-a-Service" business model.</a:t>
                      </a:r>
                    </a:p>
                  </a:txBody>
                  <a:tcPr marL="152400" marR="152400" marT="101600" marB="101600" anchor="ctr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000">
                          <a:solidFill>
                            <a:srgbClr val="1F1F1F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Cybercriminals now operate like professional franchises, providing tools to "affiliates" for a cut of the profit.</a:t>
                      </a:r>
                    </a:p>
                  </a:txBody>
                  <a:tcPr marL="152400" marR="152400" marT="101600" marB="101600" anchor="ctr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000">
                          <a:solidFill>
                            <a:srgbClr val="1F1F1F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Lacks a specific framework for how small companies can defend against such high-level "pro" tools.</a:t>
                      </a:r>
                    </a:p>
                  </a:txBody>
                  <a:tcPr marL="152400" marR="152400" marT="101600" marB="1016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3929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000" b="1">
                          <a:solidFill>
                            <a:srgbClr val="1F1F1F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National Security Memo</a:t>
                      </a:r>
                    </a:p>
                  </a:txBody>
                  <a:tcPr marL="152400" marR="152400" marT="101600" marB="101600" anchor="ctr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000">
                          <a:solidFill>
                            <a:srgbClr val="1F1F1F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Critical Infrastructure and OT safety.</a:t>
                      </a:r>
                    </a:p>
                  </a:txBody>
                  <a:tcPr marL="152400" marR="152400" marT="101600" marB="101600" anchor="ctr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000">
                          <a:solidFill>
                            <a:srgbClr val="1F1F1F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Shutting down the pipeline was a business decision (billing) rather than a direct technical necessity of the hack.</a:t>
                      </a:r>
                    </a:p>
                  </a:txBody>
                  <a:tcPr marL="152400" marR="152400" marT="101600" marB="101600" anchor="ctr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000">
                          <a:solidFill>
                            <a:srgbClr val="1F1F1F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Needs more research on how to keep billing systems separate from actual fuel-pumping controls.</a:t>
                      </a:r>
                    </a:p>
                  </a:txBody>
                  <a:tcPr marL="152400" marR="152400" marT="101600" marB="1016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3929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000" b="1">
                          <a:solidFill>
                            <a:srgbClr val="1F1F1F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Cyber Intelligence Frameworks</a:t>
                      </a:r>
                    </a:p>
                  </a:txBody>
                  <a:tcPr marL="152400" marR="152400" marT="101600" marB="101600" anchor="ctr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000">
                          <a:solidFill>
                            <a:srgbClr val="1F1F1F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The CTI Lifecycle in incident response.</a:t>
                      </a:r>
                    </a:p>
                  </a:txBody>
                  <a:tcPr marL="152400" marR="152400" marT="101600" marB="101600" anchor="ctr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000">
                          <a:solidFill>
                            <a:srgbClr val="1F1F1F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Using the six-phase CTI cycle helps turn a crisis into actionable data for future defense.</a:t>
                      </a:r>
                    </a:p>
                  </a:txBody>
                  <a:tcPr marL="152400" marR="152400" marT="101600" marB="101600" anchor="ctr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000" dirty="0">
                          <a:solidFill>
                            <a:srgbClr val="1F1F1F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Most frameworks are too complex for non-technical managers to understand during a real crisis.</a:t>
                      </a:r>
                    </a:p>
                  </a:txBody>
                  <a:tcPr marL="152400" marR="152400" marT="101600" marB="10160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2"/>
          <p:cNvSpPr txBox="1"/>
          <p:nvPr/>
        </p:nvSpPr>
        <p:spPr>
          <a:xfrm>
            <a:off x="687934" y="1403151"/>
            <a:ext cx="17600066" cy="1098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800"/>
              </a:lnSpc>
              <a:defRPr sz="7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t>Critical Analysis and Synthesis of Literature</a:t>
            </a:r>
          </a:p>
        </p:txBody>
      </p:sp>
      <p:sp>
        <p:nvSpPr>
          <p:cNvPr id="111" name="TextBox 3"/>
          <p:cNvSpPr txBox="1"/>
          <p:nvPr/>
        </p:nvSpPr>
        <p:spPr>
          <a:xfrm>
            <a:off x="773340" y="5048703"/>
            <a:ext cx="7191376" cy="1854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900"/>
              </a:lnSpc>
              <a:defRPr sz="20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sz="2400"/>
              <a:t>The </a:t>
            </a:r>
            <a:r>
              <a:rPr sz="2400" b="1">
                <a:latin typeface="DM Sans Bold"/>
                <a:ea typeface="DM Sans Bold"/>
                <a:cs typeface="DM Sans Bold"/>
                <a:sym typeface="DM Sans Bold"/>
              </a:rPr>
              <a:t>technical focus</a:t>
            </a:r>
            <a:r>
              <a:rPr sz="2400"/>
              <a:t> examines how malware infiltrates systems, emphasizing vulnerabilities like inadequate security measures that facilitate attacks, leading to significant operational disruptions within organizations.</a:t>
            </a:r>
          </a:p>
        </p:txBody>
      </p:sp>
      <p:sp>
        <p:nvSpPr>
          <p:cNvPr id="112" name="TextBox 4"/>
          <p:cNvSpPr txBox="1"/>
          <p:nvPr/>
        </p:nvSpPr>
        <p:spPr>
          <a:xfrm>
            <a:off x="773340" y="4188453"/>
            <a:ext cx="7191376" cy="463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sz="2600" b="1">
                <a:solidFill>
                  <a:srgbClr val="D8DEE9"/>
                </a:solidFill>
                <a:latin typeface="DM Sans Bold"/>
                <a:ea typeface="DM Sans Bold"/>
                <a:cs typeface="DM Sans Bold"/>
                <a:sym typeface="DM Sans Bold"/>
              </a:defRPr>
            </a:lvl1pPr>
          </a:lstStyle>
          <a:p>
            <a:r>
              <a:rPr sz="2800"/>
              <a:t>TECHNICAL FOCUS</a:t>
            </a:r>
          </a:p>
        </p:txBody>
      </p:sp>
      <p:sp>
        <p:nvSpPr>
          <p:cNvPr id="113" name="TextBox 5"/>
          <p:cNvSpPr txBox="1"/>
          <p:nvPr/>
        </p:nvSpPr>
        <p:spPr>
          <a:xfrm>
            <a:off x="9495309" y="5048703"/>
            <a:ext cx="7191376" cy="1854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900"/>
              </a:lnSpc>
              <a:defRPr sz="20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sz="2400"/>
              <a:t>The </a:t>
            </a:r>
            <a:r>
              <a:rPr sz="2400" b="1">
                <a:latin typeface="DM Sans Bold"/>
                <a:ea typeface="DM Sans Bold"/>
                <a:cs typeface="DM Sans Bold"/>
                <a:sym typeface="DM Sans Bold"/>
              </a:rPr>
              <a:t>Dependency Risk</a:t>
            </a:r>
            <a:r>
              <a:rPr sz="2400"/>
              <a:t> concept illustrates the critical interconnection between IT security and physical operational integrity, highlighting how lapses in cybersecurity can directly compromise essential infrastructure functions.</a:t>
            </a:r>
          </a:p>
        </p:txBody>
      </p:sp>
      <p:sp>
        <p:nvSpPr>
          <p:cNvPr id="114" name="TextBox 6"/>
          <p:cNvSpPr txBox="1"/>
          <p:nvPr/>
        </p:nvSpPr>
        <p:spPr>
          <a:xfrm>
            <a:off x="9495309" y="4188453"/>
            <a:ext cx="7191376" cy="463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sz="2600" b="1">
                <a:solidFill>
                  <a:srgbClr val="D8DEE9"/>
                </a:solidFill>
                <a:latin typeface="DM Sans Bold"/>
                <a:ea typeface="DM Sans Bold"/>
                <a:cs typeface="DM Sans Bold"/>
                <a:sym typeface="DM Sans Bold"/>
              </a:defRPr>
            </a:lvl1pPr>
          </a:lstStyle>
          <a:p>
            <a:r>
              <a:rPr sz="2800"/>
              <a:t>DEPENDENCY RISK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42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2"/>
          <p:cNvSpPr txBox="1"/>
          <p:nvPr/>
        </p:nvSpPr>
        <p:spPr>
          <a:xfrm>
            <a:off x="710994" y="1556950"/>
            <a:ext cx="15821025" cy="1127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dirty="0"/>
              <a:t>Gap Analysis of Literature Findings</a:t>
            </a:r>
          </a:p>
        </p:txBody>
      </p:sp>
      <p:grpSp>
        <p:nvGrpSpPr>
          <p:cNvPr id="119" name="Group 3"/>
          <p:cNvGrpSpPr/>
          <p:nvPr/>
        </p:nvGrpSpPr>
        <p:grpSpPr>
          <a:xfrm>
            <a:off x="710994" y="4077664"/>
            <a:ext cx="4314825" cy="3865458"/>
            <a:chOff x="0" y="0"/>
            <a:chExt cx="4314825" cy="3865457"/>
          </a:xfrm>
        </p:grpSpPr>
        <p:sp>
          <p:nvSpPr>
            <p:cNvPr id="117" name="TextBox 4"/>
            <p:cNvSpPr txBox="1"/>
            <p:nvPr/>
          </p:nvSpPr>
          <p:spPr>
            <a:xfrm>
              <a:off x="0" y="895350"/>
              <a:ext cx="4314825" cy="29701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900"/>
                </a:lnSpc>
                <a:defRPr sz="2000">
                  <a:solidFill>
                    <a:srgbClr val="D8DEE9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</a:lstStyle>
            <a:p>
              <a:r>
                <a:rPr sz="2400"/>
                <a:t>Maintaining uptime for billing systems during cyberattacks is crucial; however, the literature lacks comprehensive strategies on how to effectively safeguard these critical operational elements.</a:t>
              </a:r>
            </a:p>
          </p:txBody>
        </p:sp>
        <p:sp>
          <p:nvSpPr>
            <p:cNvPr id="118" name="TextBox 5"/>
            <p:cNvSpPr txBox="1"/>
            <p:nvPr/>
          </p:nvSpPr>
          <p:spPr>
            <a:xfrm>
              <a:off x="0" y="0"/>
              <a:ext cx="4314825" cy="448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3600"/>
                </a:lnSpc>
                <a:defRPr sz="2600" b="1">
                  <a:solidFill>
                    <a:srgbClr val="D8DEE9"/>
                  </a:solidFill>
                  <a:latin typeface="DM Sans Bold"/>
                  <a:ea typeface="DM Sans Bold"/>
                  <a:cs typeface="DM Sans Bold"/>
                  <a:sym typeface="DM Sans Bold"/>
                </a:defRPr>
              </a:lvl1pPr>
            </a:lstStyle>
            <a:p>
              <a:r>
                <a:rPr sz="2800"/>
                <a:t>BILLING SYSTEM UPTIME</a:t>
              </a:r>
            </a:p>
          </p:txBody>
        </p:sp>
      </p:grpSp>
      <p:grpSp>
        <p:nvGrpSpPr>
          <p:cNvPr id="122" name="Group 6"/>
          <p:cNvGrpSpPr/>
          <p:nvPr/>
        </p:nvGrpSpPr>
        <p:grpSpPr>
          <a:xfrm>
            <a:off x="6464094" y="4077664"/>
            <a:ext cx="4314825" cy="3865458"/>
            <a:chOff x="0" y="0"/>
            <a:chExt cx="4314825" cy="3493559"/>
          </a:xfrm>
        </p:grpSpPr>
        <p:sp>
          <p:nvSpPr>
            <p:cNvPr id="120" name="TextBox 7"/>
            <p:cNvSpPr txBox="1"/>
            <p:nvPr/>
          </p:nvSpPr>
          <p:spPr>
            <a:xfrm>
              <a:off x="0" y="895349"/>
              <a:ext cx="4314825" cy="25982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900"/>
                </a:lnSpc>
                <a:defRPr sz="2000">
                  <a:solidFill>
                    <a:srgbClr val="D8DEE9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</a:lstStyle>
            <a:p>
              <a:r>
                <a:rPr sz="2400"/>
                <a:t>There is limited research on network segmentation strategies tailored for pipeline infrastructures, which could significantly mitigate risk and minimize damage during cyber intrusions.</a:t>
              </a:r>
            </a:p>
          </p:txBody>
        </p:sp>
        <p:sp>
          <p:nvSpPr>
            <p:cNvPr id="121" name="TextBox 8"/>
            <p:cNvSpPr txBox="1"/>
            <p:nvPr/>
          </p:nvSpPr>
          <p:spPr>
            <a:xfrm>
              <a:off x="0" y="0"/>
              <a:ext cx="4314825" cy="9105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3600"/>
                </a:lnSpc>
                <a:defRPr sz="2600" b="1">
                  <a:solidFill>
                    <a:srgbClr val="D8DEE9"/>
                  </a:solidFill>
                  <a:latin typeface="DM Sans Bold"/>
                  <a:ea typeface="DM Sans Bold"/>
                  <a:cs typeface="DM Sans Bold"/>
                  <a:sym typeface="DM Sans Bold"/>
                </a:defRPr>
              </a:lvl1pPr>
            </a:lstStyle>
            <a:p>
              <a:r>
                <a:rPr sz="2800"/>
                <a:t>NETWORK SEGMENTATION</a:t>
              </a:r>
            </a:p>
          </p:txBody>
        </p:sp>
      </p:grpSp>
      <p:grpSp>
        <p:nvGrpSpPr>
          <p:cNvPr id="125" name="Group 9"/>
          <p:cNvGrpSpPr/>
          <p:nvPr/>
        </p:nvGrpSpPr>
        <p:grpSpPr>
          <a:xfrm>
            <a:off x="12217194" y="4077664"/>
            <a:ext cx="4314825" cy="3865458"/>
            <a:chOff x="0" y="0"/>
            <a:chExt cx="4314825" cy="3865455"/>
          </a:xfrm>
        </p:grpSpPr>
        <p:sp>
          <p:nvSpPr>
            <p:cNvPr id="123" name="TextBox 10"/>
            <p:cNvSpPr txBox="1"/>
            <p:nvPr/>
          </p:nvSpPr>
          <p:spPr>
            <a:xfrm>
              <a:off x="0" y="895349"/>
              <a:ext cx="4314825" cy="29701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900"/>
                </a:lnSpc>
                <a:defRPr sz="2000">
                  <a:solidFill>
                    <a:srgbClr val="D8DEE9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</a:lstStyle>
            <a:p>
              <a:r>
                <a:rPr sz="2400"/>
                <a:t>Current studies indicate a deficiency in training non-technical executives on crisis decision-making, which is vital for effective responses during cybersecurity incidents and maintaining operational integrity.</a:t>
              </a:r>
            </a:p>
          </p:txBody>
        </p:sp>
        <p:sp>
          <p:nvSpPr>
            <p:cNvPr id="124" name="TextBox 11"/>
            <p:cNvSpPr txBox="1"/>
            <p:nvPr/>
          </p:nvSpPr>
          <p:spPr>
            <a:xfrm>
              <a:off x="0" y="0"/>
              <a:ext cx="4314825" cy="448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3600"/>
                </a:lnSpc>
                <a:defRPr sz="2600" b="1">
                  <a:solidFill>
                    <a:srgbClr val="D8DEE9"/>
                  </a:solidFill>
                  <a:latin typeface="DM Sans Bold"/>
                  <a:ea typeface="DM Sans Bold"/>
                  <a:cs typeface="DM Sans Bold"/>
                  <a:sym typeface="DM Sans Bold"/>
                </a:defRPr>
              </a:lvl1pPr>
            </a:lstStyle>
            <a:p>
              <a:r>
                <a:rPr sz="2800"/>
                <a:t>EXECUTIVE TRAINING</a:t>
              </a:r>
            </a:p>
          </p:txBody>
        </p:sp>
      </p:grp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roup 2"/>
          <p:cNvGrpSpPr/>
          <p:nvPr/>
        </p:nvGrpSpPr>
        <p:grpSpPr>
          <a:xfrm>
            <a:off x="666750" y="2421731"/>
            <a:ext cx="7191375" cy="1539447"/>
            <a:chOff x="0" y="0"/>
            <a:chExt cx="7191375" cy="1539445"/>
          </a:xfrm>
        </p:grpSpPr>
        <p:sp>
          <p:nvSpPr>
            <p:cNvPr id="127" name="TextBox 3"/>
            <p:cNvSpPr txBox="1"/>
            <p:nvPr/>
          </p:nvSpPr>
          <p:spPr>
            <a:xfrm>
              <a:off x="0" y="800718"/>
              <a:ext cx="7191375" cy="73872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900"/>
                </a:lnSpc>
                <a:defRPr sz="2100">
                  <a:solidFill>
                    <a:srgbClr val="D8DEE9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</a:lstStyle>
            <a:p>
              <a:r>
                <a:rPr sz="2400" dirty="0"/>
                <a:t>IT security </a:t>
              </a:r>
              <a:r>
                <a:rPr sz="2400"/>
                <a:t>is </a:t>
              </a:r>
              <a:r>
                <a:rPr lang="en-US" sz="2400"/>
                <a:t>as </a:t>
              </a:r>
              <a:r>
                <a:rPr sz="2400"/>
                <a:t>crucial </a:t>
              </a:r>
              <a:r>
                <a:rPr sz="2400" dirty="0"/>
                <a:t>as physical security; one stolen password can cause chaos.</a:t>
              </a:r>
            </a:p>
          </p:txBody>
        </p:sp>
        <p:sp>
          <p:nvSpPr>
            <p:cNvPr id="128" name="TextBox 4"/>
            <p:cNvSpPr txBox="1"/>
            <p:nvPr/>
          </p:nvSpPr>
          <p:spPr>
            <a:xfrm>
              <a:off x="0" y="0"/>
              <a:ext cx="7191375" cy="448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3600"/>
                </a:lnSpc>
                <a:defRPr sz="2600" b="1">
                  <a:solidFill>
                    <a:srgbClr val="D8DEE9"/>
                  </a:solidFill>
                  <a:latin typeface="DM Sans Bold"/>
                  <a:ea typeface="DM Sans Bold"/>
                  <a:cs typeface="DM Sans Bold"/>
                  <a:sym typeface="DM Sans Bold"/>
                </a:defRPr>
              </a:lvl1pPr>
            </a:lstStyle>
            <a:p>
              <a:r>
                <a:rPr sz="2800"/>
                <a:t>IT SECURITY</a:t>
              </a:r>
            </a:p>
          </p:txBody>
        </p:sp>
      </p:grpSp>
      <p:grpSp>
        <p:nvGrpSpPr>
          <p:cNvPr id="132" name="Group 5"/>
          <p:cNvGrpSpPr/>
          <p:nvPr/>
        </p:nvGrpSpPr>
        <p:grpSpPr>
          <a:xfrm>
            <a:off x="666750" y="5129956"/>
            <a:ext cx="7191375" cy="1495097"/>
            <a:chOff x="0" y="0"/>
            <a:chExt cx="7191375" cy="1495095"/>
          </a:xfrm>
        </p:grpSpPr>
        <p:sp>
          <p:nvSpPr>
            <p:cNvPr id="130" name="TextBox 6"/>
            <p:cNvSpPr txBox="1"/>
            <p:nvPr/>
          </p:nvSpPr>
          <p:spPr>
            <a:xfrm>
              <a:off x="0" y="756368"/>
              <a:ext cx="7191375" cy="73872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900"/>
                </a:lnSpc>
                <a:defRPr sz="2100">
                  <a:solidFill>
                    <a:srgbClr val="D8DEE9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</a:lstStyle>
            <a:p>
              <a:r>
                <a:rPr sz="2400"/>
                <a:t>Addressing network segmentation can prevent widespread damage during a cyber attack.</a:t>
              </a:r>
            </a:p>
          </p:txBody>
        </p:sp>
        <p:sp>
          <p:nvSpPr>
            <p:cNvPr id="131" name="TextBox 7"/>
            <p:cNvSpPr txBox="1"/>
            <p:nvPr/>
          </p:nvSpPr>
          <p:spPr>
            <a:xfrm>
              <a:off x="0" y="0"/>
              <a:ext cx="7191375" cy="448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3600"/>
                </a:lnSpc>
                <a:defRPr sz="2600" b="1">
                  <a:solidFill>
                    <a:srgbClr val="D8DEE9"/>
                  </a:solidFill>
                  <a:latin typeface="DM Sans Bold"/>
                  <a:ea typeface="DM Sans Bold"/>
                  <a:cs typeface="DM Sans Bold"/>
                  <a:sym typeface="DM Sans Bold"/>
                </a:defRPr>
              </a:lvl1pPr>
            </a:lstStyle>
            <a:p>
              <a:r>
                <a:rPr sz="2800"/>
                <a:t>NETWORK SEGMENTATION</a:t>
              </a:r>
            </a:p>
          </p:txBody>
        </p:sp>
      </p:grpSp>
      <p:grpSp>
        <p:nvGrpSpPr>
          <p:cNvPr id="135" name="Group 8"/>
          <p:cNvGrpSpPr/>
          <p:nvPr/>
        </p:nvGrpSpPr>
        <p:grpSpPr>
          <a:xfrm>
            <a:off x="666750" y="7793831"/>
            <a:ext cx="7191375" cy="1450747"/>
            <a:chOff x="0" y="0"/>
            <a:chExt cx="7191375" cy="1450745"/>
          </a:xfrm>
        </p:grpSpPr>
        <p:sp>
          <p:nvSpPr>
            <p:cNvPr id="133" name="TextBox 9"/>
            <p:cNvSpPr txBox="1"/>
            <p:nvPr/>
          </p:nvSpPr>
          <p:spPr>
            <a:xfrm>
              <a:off x="0" y="712018"/>
              <a:ext cx="7191375" cy="73872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900"/>
                </a:lnSpc>
                <a:defRPr sz="2100">
                  <a:solidFill>
                    <a:srgbClr val="D8DEE9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</a:lstStyle>
            <a:p>
              <a:r>
                <a:rPr sz="2400" dirty="0"/>
                <a:t>Cybersecurity must be elevated to a national security priority, ensuring robust protections.</a:t>
              </a:r>
            </a:p>
          </p:txBody>
        </p:sp>
        <p:sp>
          <p:nvSpPr>
            <p:cNvPr id="134" name="TextBox 10"/>
            <p:cNvSpPr txBox="1"/>
            <p:nvPr/>
          </p:nvSpPr>
          <p:spPr>
            <a:xfrm>
              <a:off x="0" y="0"/>
              <a:ext cx="7191375" cy="448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3600"/>
                </a:lnSpc>
                <a:defRPr sz="2600" b="1">
                  <a:solidFill>
                    <a:srgbClr val="D8DEE9"/>
                  </a:solidFill>
                  <a:latin typeface="DM Sans Bold"/>
                  <a:ea typeface="DM Sans Bold"/>
                  <a:cs typeface="DM Sans Bold"/>
                  <a:sym typeface="DM Sans Bold"/>
                </a:defRPr>
              </a:lvl1pPr>
            </a:lstStyle>
            <a:p>
              <a:r>
                <a:rPr sz="2800"/>
                <a:t>NATIONAL PRIORITY</a:t>
              </a:r>
            </a:p>
          </p:txBody>
        </p:sp>
      </p:grpSp>
      <p:grpSp>
        <p:nvGrpSpPr>
          <p:cNvPr id="138" name="Group 11"/>
          <p:cNvGrpSpPr/>
          <p:nvPr/>
        </p:nvGrpSpPr>
        <p:grpSpPr>
          <a:xfrm>
            <a:off x="9296400" y="2421731"/>
            <a:ext cx="7191375" cy="1535450"/>
            <a:chOff x="0" y="0"/>
            <a:chExt cx="7191375" cy="1535448"/>
          </a:xfrm>
        </p:grpSpPr>
        <p:sp>
          <p:nvSpPr>
            <p:cNvPr id="136" name="TextBox 12"/>
            <p:cNvSpPr txBox="1"/>
            <p:nvPr/>
          </p:nvSpPr>
          <p:spPr>
            <a:xfrm>
              <a:off x="0" y="796721"/>
              <a:ext cx="7191375" cy="73872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900"/>
                </a:lnSpc>
                <a:defRPr sz="2100">
                  <a:solidFill>
                    <a:srgbClr val="D8DEE9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</a:lstStyle>
            <a:p>
              <a:r>
                <a:rPr sz="2400" dirty="0"/>
                <a:t>Applying the CTI Lifecycle transforms crisis management into a structured defense strategy.</a:t>
              </a:r>
            </a:p>
          </p:txBody>
        </p:sp>
        <p:sp>
          <p:nvSpPr>
            <p:cNvPr id="137" name="TextBox 13"/>
            <p:cNvSpPr txBox="1"/>
            <p:nvPr/>
          </p:nvSpPr>
          <p:spPr>
            <a:xfrm>
              <a:off x="0" y="0"/>
              <a:ext cx="7191375" cy="448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3600"/>
                </a:lnSpc>
                <a:defRPr sz="2600" b="1">
                  <a:solidFill>
                    <a:srgbClr val="D8DEE9"/>
                  </a:solidFill>
                  <a:latin typeface="DM Sans Bold"/>
                  <a:ea typeface="DM Sans Bold"/>
                  <a:cs typeface="DM Sans Bold"/>
                  <a:sym typeface="DM Sans Bold"/>
                </a:defRPr>
              </a:lvl1pPr>
            </a:lstStyle>
            <a:p>
              <a:r>
                <a:rPr sz="2800"/>
                <a:t>CTI LIFECYCLE</a:t>
              </a:r>
            </a:p>
          </p:txBody>
        </p:sp>
      </p:grpSp>
      <p:grpSp>
        <p:nvGrpSpPr>
          <p:cNvPr id="141" name="Group 14"/>
          <p:cNvGrpSpPr/>
          <p:nvPr/>
        </p:nvGrpSpPr>
        <p:grpSpPr>
          <a:xfrm>
            <a:off x="9296400" y="5129956"/>
            <a:ext cx="7191375" cy="1495097"/>
            <a:chOff x="0" y="0"/>
            <a:chExt cx="7191375" cy="1495095"/>
          </a:xfrm>
        </p:grpSpPr>
        <p:sp>
          <p:nvSpPr>
            <p:cNvPr id="139" name="TextBox 15"/>
            <p:cNvSpPr txBox="1"/>
            <p:nvPr/>
          </p:nvSpPr>
          <p:spPr>
            <a:xfrm>
              <a:off x="0" y="756368"/>
              <a:ext cx="7191375" cy="73872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900"/>
                </a:lnSpc>
                <a:defRPr sz="2100">
                  <a:solidFill>
                    <a:srgbClr val="D8DEE9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</a:lstStyle>
            <a:p>
              <a:r>
                <a:rPr sz="2400" dirty="0"/>
                <a:t>Training executives on crisis decision-making is essential for effective cyber response.</a:t>
              </a:r>
            </a:p>
          </p:txBody>
        </p:sp>
        <p:sp>
          <p:nvSpPr>
            <p:cNvPr id="140" name="TextBox 16"/>
            <p:cNvSpPr txBox="1"/>
            <p:nvPr/>
          </p:nvSpPr>
          <p:spPr>
            <a:xfrm>
              <a:off x="0" y="0"/>
              <a:ext cx="7191375" cy="448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3600"/>
                </a:lnSpc>
                <a:defRPr sz="2600" b="1">
                  <a:solidFill>
                    <a:srgbClr val="D8DEE9"/>
                  </a:solidFill>
                  <a:latin typeface="DM Sans Bold"/>
                  <a:ea typeface="DM Sans Bold"/>
                  <a:cs typeface="DM Sans Bold"/>
                  <a:sym typeface="DM Sans Bold"/>
                </a:defRPr>
              </a:lvl1pPr>
            </a:lstStyle>
            <a:p>
              <a:r>
                <a:rPr sz="2800"/>
                <a:t>EXECUTIVE TRAINING</a:t>
              </a:r>
            </a:p>
          </p:txBody>
        </p:sp>
      </p:grpSp>
      <p:sp>
        <p:nvSpPr>
          <p:cNvPr id="142" name="TextBox 17"/>
          <p:cNvSpPr txBox="1"/>
          <p:nvPr/>
        </p:nvSpPr>
        <p:spPr>
          <a:xfrm>
            <a:off x="666750" y="733424"/>
            <a:ext cx="16954500" cy="1127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t>Conclusion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985</Words>
  <Application>Microsoft Office PowerPoint</Application>
  <PresentationFormat>Custom</PresentationFormat>
  <Paragraphs>108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DM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Harini Sri Reddy</cp:lastModifiedBy>
  <cp:revision>7</cp:revision>
  <dcterms:modified xsi:type="dcterms:W3CDTF">2026-02-16T07:29:14Z</dcterms:modified>
</cp:coreProperties>
</file>