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75" r:id="rId3"/>
    <p:sldId id="257" r:id="rId4"/>
    <p:sldId id="263" r:id="rId5"/>
    <p:sldId id="264" r:id="rId6"/>
    <p:sldId id="274" r:id="rId7"/>
    <p:sldId id="265" r:id="rId8"/>
    <p:sldId id="266" r:id="rId9"/>
    <p:sldId id="288" r:id="rId10"/>
    <p:sldId id="281" r:id="rId11"/>
    <p:sldId id="282" r:id="rId12"/>
    <p:sldId id="258" r:id="rId13"/>
    <p:sldId id="267" r:id="rId14"/>
    <p:sldId id="268" r:id="rId15"/>
    <p:sldId id="273" r:id="rId16"/>
    <p:sldId id="269" r:id="rId17"/>
    <p:sldId id="270" r:id="rId18"/>
    <p:sldId id="277" r:id="rId19"/>
    <p:sldId id="284" r:id="rId20"/>
    <p:sldId id="279" r:id="rId21"/>
    <p:sldId id="278" r:id="rId22"/>
    <p:sldId id="276" r:id="rId23"/>
    <p:sldId id="285" r:id="rId24"/>
    <p:sldId id="286" r:id="rId25"/>
    <p:sldId id="287" r:id="rId26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3440"/>
    <a:srgbClr val="3B4252"/>
    <a:srgbClr val="1F29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520" autoAdjust="0"/>
  </p:normalViewPr>
  <p:slideViewPr>
    <p:cSldViewPr snapToGrid="0">
      <p:cViewPr varScale="1">
        <p:scale>
          <a:sx n="45" d="100"/>
          <a:sy n="45" d="100"/>
        </p:scale>
        <p:origin x="1234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8824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F847F-4052-4738-C9E0-EAD77F282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5B005D-D098-DB86-2E80-3B3327A368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FAD0B5-5F5F-D485-1893-DFAB1BABF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8958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35457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54E21-285A-1A9F-EDDF-DFAD98B83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B3D14A-93B5-AD89-9265-901C2EC45C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7A5270-450D-1508-102A-759952FDEE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1463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4012D-8351-5604-3A27-DDAC948AB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FE28EC-FC87-3DDE-D727-2DA586507C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44C648-798A-2F9A-E5D3-A7B50ECFFA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6687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DCA76-CDEC-DB4B-541A-19806FEF4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1CBA2D-11CD-1A82-D081-85E97D3CDC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935B1D-93E8-06C6-7AD5-F431D7982C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3431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81A9D-A1D0-235F-00B9-DC616651F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4021AC-7D1F-8830-CF77-67262E87BE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F9CEDF-923E-5B2D-F3FF-602A49F4F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518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93720-89DB-76C7-282F-12F988DE5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6036CC-1408-2ED7-2E08-9DD0C1CFAA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B90C74-C206-1402-6107-DE8538DFCE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6733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AC606-ABAC-FDBB-AF04-7D4164DA8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211FBA-4CC6-0520-A21A-C361CBFBA5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065F4A-1A3C-DDD2-7FAE-1992F7ABB6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349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12686-52DE-7511-4106-BC7E57314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F5F9CF-F38C-66B1-5F89-59D9132898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B0DA51-AC76-460C-B8F6-D66EFAA74B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25674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317B7-E4B2-0C1A-837B-BC14FD33B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35CD08-5D16-C083-F8BA-485332B24D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400D97-D97D-B31D-4052-2A2DE4D4F3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4747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9231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C6A22-4E0F-D439-C3CA-A5A1EC931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DB830D-3911-6FE1-FB52-229FD4AE94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C30462-A3D6-B4D3-AD03-1073D454CE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6939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50B9E-6FF0-0C2E-3D48-930C8282D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51C56D-567E-A2DA-CE30-9FAFD279D4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093C23-7FBB-E4FA-18F3-3413D2C7E9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3110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815A6-F378-55B7-3932-D104227A6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128C81-B3EC-4F94-82D9-31B709F0B4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0388EC-E548-82C1-A164-AC42F91ED1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5713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C3F7E-9DA6-9B0C-DA81-B52604D8D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9AF331-9342-45FD-0A6D-D04C98FC98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829121-879F-302C-57A7-27224C8C3B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6487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E5283-B7C1-EF9A-A9E7-4861C8669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16E8EF-7BE4-E7BF-949E-F3A26BA799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272579-6289-AF23-643B-1F3796F9AE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9850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D6F30-9D8A-6501-C9B0-E6D26679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815C7A-E29C-3937-8238-2C13D09CB2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5057CB-A5BA-DDC2-0249-BB60576957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7209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5C79C-D257-4935-6BF8-B840BC338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9AB563-D66B-F8ED-D59E-93DD627E0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651024-E905-9345-8E20-F029F5D4EA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9406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97701-B809-F53A-C00F-C5B08CBAB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F068CC-7549-B4AF-F700-4F52E4B744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4C4071-E871-BE5C-0C20-F85396A663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0503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E5159-78EE-F859-884D-F970E7B94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E27C7D-9CCC-58B7-3308-D200ECE8F1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245FCD-E42E-3B9A-E40B-163CE6958B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7262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B2724-6B5F-ED62-7AA6-E347DBD0B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3D00FF-8ABD-7494-7163-C12A0C0532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89DC65-C20C-F1FB-3081-5FF9378406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9655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8047D-5B43-752C-429C-4039E7202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D978A3-509B-6E23-C70F-AD844DE118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75E66C-D467-D56F-D0A1-40A18DD44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26237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CFA6B-932F-98ED-40E1-FBE5661F3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4C42B1-63B6-169C-3A73-67F843331B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5C0562-8DA1-86C3-5118-17847F8075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6384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4C244-9FFD-E7CC-BA47-50BFB0386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63D236-B524-6D65-2A40-92429E5E7F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ECDDA2-689D-A1EB-695F-7E304913FE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9466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 dirty="0"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Freeform 3"/>
          <p:cNvSpPr/>
          <p:nvPr/>
        </p:nvSpPr>
        <p:spPr>
          <a:xfrm>
            <a:off x="-1" y="-1"/>
            <a:ext cx="8991601" cy="1028700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 dirty="0"/>
          </a:p>
        </p:txBody>
      </p:sp>
      <p:grpSp>
        <p:nvGrpSpPr>
          <p:cNvPr id="97" name="Group 7"/>
          <p:cNvGrpSpPr/>
          <p:nvPr/>
        </p:nvGrpSpPr>
        <p:grpSpPr>
          <a:xfrm>
            <a:off x="10172700" y="544500"/>
            <a:ext cx="7275191" cy="5740159"/>
            <a:chOff x="0" y="0"/>
            <a:chExt cx="7275190" cy="5740157"/>
          </a:xfrm>
        </p:grpSpPr>
        <p:sp>
          <p:nvSpPr>
            <p:cNvPr id="95" name="TextBox 8"/>
            <p:cNvSpPr txBox="1"/>
            <p:nvPr/>
          </p:nvSpPr>
          <p:spPr>
            <a:xfrm>
              <a:off x="0" y="0"/>
              <a:ext cx="7275190" cy="492027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>
                <a:lnSpc>
                  <a:spcPts val="9100"/>
                </a:lnSpc>
                <a:defRPr sz="9100">
                  <a:solidFill>
                    <a:srgbClr val="DCE6F1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defRPr>
              </a:lvl1pPr>
            </a:lstStyle>
            <a:p>
              <a:r>
                <a:rPr dirty="0"/>
                <a:t>Colonial Pipeline Ransomware Incident </a:t>
              </a:r>
            </a:p>
          </p:txBody>
        </p:sp>
        <p:sp>
          <p:nvSpPr>
            <p:cNvPr id="96" name="TextBox 9"/>
            <p:cNvSpPr txBox="1"/>
            <p:nvPr/>
          </p:nvSpPr>
          <p:spPr>
            <a:xfrm>
              <a:off x="3735" y="4920273"/>
              <a:ext cx="7267718" cy="8198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>
                <a:lnSpc>
                  <a:spcPts val="5000"/>
                </a:lnSpc>
                <a:defRPr sz="3500">
                  <a:solidFill>
                    <a:srgbClr val="D8DEE9"/>
                  </a:solidFill>
                  <a:latin typeface="DM Sans"/>
                  <a:ea typeface="DM Sans"/>
                  <a:cs typeface="DM Sans"/>
                  <a:sym typeface="DM Sans"/>
                </a:defRPr>
              </a:lvl1pPr>
            </a:lstStyle>
            <a:p>
              <a:r>
                <a:rPr lang="en-US" dirty="0"/>
                <a:t>Cyber Threat Intelligence Analysis</a:t>
              </a:r>
              <a:endParaRPr dirty="0"/>
            </a:p>
          </p:txBody>
        </p:sp>
      </p:grpSp>
      <p:grpSp>
        <p:nvGrpSpPr>
          <p:cNvPr id="100" name="Group 10"/>
          <p:cNvGrpSpPr/>
          <p:nvPr/>
        </p:nvGrpSpPr>
        <p:grpSpPr>
          <a:xfrm>
            <a:off x="10139289" y="6609098"/>
            <a:ext cx="5743576" cy="2066284"/>
            <a:chOff x="0" y="0"/>
            <a:chExt cx="5743575" cy="2066283"/>
          </a:xfrm>
        </p:grpSpPr>
        <p:sp>
          <p:nvSpPr>
            <p:cNvPr id="98" name="TextBox 11"/>
            <p:cNvSpPr txBox="1"/>
            <p:nvPr/>
          </p:nvSpPr>
          <p:spPr>
            <a:xfrm>
              <a:off x="0" y="554227"/>
              <a:ext cx="5743575" cy="15120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lnSpc>
                  <a:spcPts val="3000"/>
                </a:lnSpc>
                <a:defRPr sz="2200">
                  <a:solidFill>
                    <a:srgbClr val="D8DEE9"/>
                  </a:solidFill>
                  <a:latin typeface="DM Sans"/>
                  <a:ea typeface="DM Sans"/>
                  <a:cs typeface="DM Sans"/>
                  <a:sym typeface="DM Sans"/>
                </a:defRPr>
              </a:pPr>
              <a:r>
                <a:rPr dirty="0"/>
                <a:t>2410030019-EADUNUR HARINI SRI REDDY</a:t>
              </a:r>
              <a:endParaRPr dirty="0">
                <a:solidFill>
                  <a:srgbClr val="DCE6F1"/>
                </a:solidFill>
              </a:endParaRPr>
            </a:p>
            <a:p>
              <a:pPr>
                <a:lnSpc>
                  <a:spcPts val="3000"/>
                </a:lnSpc>
                <a:defRPr sz="2200">
                  <a:solidFill>
                    <a:srgbClr val="DCE6F1"/>
                  </a:solidFill>
                  <a:latin typeface="DM Sans"/>
                  <a:ea typeface="DM Sans"/>
                  <a:cs typeface="DM Sans"/>
                  <a:sym typeface="DM Sans"/>
                </a:defRPr>
              </a:pPr>
              <a:r>
                <a:rPr dirty="0"/>
                <a:t>2410030246-DEVARSHETTY PRAVALIKA</a:t>
              </a:r>
            </a:p>
            <a:p>
              <a:pPr>
                <a:lnSpc>
                  <a:spcPts val="3000"/>
                </a:lnSpc>
                <a:defRPr sz="2200">
                  <a:solidFill>
                    <a:srgbClr val="DCE6F1"/>
                  </a:solidFill>
                  <a:latin typeface="DM Sans"/>
                  <a:ea typeface="DM Sans"/>
                  <a:cs typeface="DM Sans"/>
                  <a:sym typeface="DM Sans"/>
                </a:defRPr>
              </a:pPr>
              <a:r>
                <a:rPr dirty="0"/>
                <a:t>2410030298-V.TANUSRI</a:t>
              </a:r>
            </a:p>
            <a:p>
              <a:pPr>
                <a:lnSpc>
                  <a:spcPts val="3000"/>
                </a:lnSpc>
                <a:defRPr sz="2200">
                  <a:solidFill>
                    <a:srgbClr val="DCE6F1"/>
                  </a:solidFill>
                  <a:latin typeface="DM Sans"/>
                  <a:ea typeface="DM Sans"/>
                  <a:cs typeface="DM Sans"/>
                  <a:sym typeface="DM Sans"/>
                </a:defRPr>
              </a:pPr>
              <a:r>
                <a:rPr dirty="0"/>
                <a:t>2410030060-MAHITHA VARMA</a:t>
              </a:r>
            </a:p>
          </p:txBody>
        </p:sp>
        <p:sp>
          <p:nvSpPr>
            <p:cNvPr id="99" name="TextBox 12"/>
            <p:cNvSpPr txBox="1"/>
            <p:nvPr/>
          </p:nvSpPr>
          <p:spPr>
            <a:xfrm>
              <a:off x="0" y="0"/>
              <a:ext cx="5743575" cy="441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3600"/>
                </a:lnSpc>
                <a:defRPr sz="2600" b="1">
                  <a:solidFill>
                    <a:srgbClr val="D8DEE9"/>
                  </a:solidFill>
                  <a:latin typeface="DM Sans Bold"/>
                  <a:ea typeface="DM Sans Bold"/>
                  <a:cs typeface="DM Sans Bold"/>
                  <a:sym typeface="DM Sans Bold"/>
                </a:defRPr>
              </a:lvl1pPr>
            </a:lstStyle>
            <a:p>
              <a:r>
                <a:rPr dirty="0"/>
                <a:t>PRESENTED BY</a:t>
              </a:r>
            </a:p>
          </p:txBody>
        </p:sp>
      </p:grp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FF6390-38DF-F541-F9DB-A79941C77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5">
            <a:extLst>
              <a:ext uri="{FF2B5EF4-FFF2-40B4-BE49-F238E27FC236}">
                <a16:creationId xmlns:a16="http://schemas.microsoft.com/office/drawing/2014/main" id="{9827153D-1A7B-B557-4ECA-F52A7A0B074E}"/>
              </a:ext>
            </a:extLst>
          </p:cNvPr>
          <p:cNvSpPr txBox="1"/>
          <p:nvPr/>
        </p:nvSpPr>
        <p:spPr>
          <a:xfrm>
            <a:off x="1367790" y="4014986"/>
            <a:ext cx="8324850" cy="11285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D8DEE9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rPr lang="en-US" dirty="0"/>
              <a:t>Introduction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5369671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5"/>
          <p:cNvSpPr txBox="1"/>
          <p:nvPr/>
        </p:nvSpPr>
        <p:spPr>
          <a:xfrm>
            <a:off x="1134532" y="2886472"/>
            <a:ext cx="7122583" cy="45140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D8DEE9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rPr lang="en-US" dirty="0"/>
              <a:t>About Colonial Pipeline Ransomware Attack</a:t>
            </a:r>
            <a:endParaRPr dirty="0"/>
          </a:p>
        </p:txBody>
      </p:sp>
      <p:sp>
        <p:nvSpPr>
          <p:cNvPr id="2" name="TextBox 6"/>
          <p:cNvSpPr txBox="1"/>
          <p:nvPr/>
        </p:nvSpPr>
        <p:spPr>
          <a:xfrm>
            <a:off x="8828618" y="1387624"/>
            <a:ext cx="8324850" cy="70506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The Colonial Pipeline attack occurred in May 2021 and targeted critical fuel infrastructure in the United States.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The attack </a:t>
            </a:r>
            <a:r>
              <a:rPr lang="en-US" sz="2800" b="1" dirty="0"/>
              <a:t>disrupted</a:t>
            </a:r>
            <a:r>
              <a:rPr lang="en-US" sz="2800" dirty="0"/>
              <a:t> approximately </a:t>
            </a:r>
            <a:r>
              <a:rPr lang="en-US" sz="2800" b="1" dirty="0"/>
              <a:t>45% of the fuel supply</a:t>
            </a:r>
            <a:r>
              <a:rPr lang="en-US" sz="2800" dirty="0"/>
              <a:t> to the U.S. East Coast.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The attackers used </a:t>
            </a:r>
            <a:r>
              <a:rPr lang="en-US" sz="2800" b="1" dirty="0"/>
              <a:t>ransomware</a:t>
            </a:r>
            <a:r>
              <a:rPr lang="en-US" sz="2800" dirty="0"/>
              <a:t> to encrypt systems and demand payment.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Colonial Pipeline temporarily shut down its pipeline operations to contain the attack.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The incident highlighted vulnerabilities in critical infrastructure cybersecurity.</a:t>
            </a:r>
            <a:endParaRPr sz="2800" dirty="0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4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3C960C-4D7D-37C4-E5E6-DD78DB97E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5">
            <a:extLst>
              <a:ext uri="{FF2B5EF4-FFF2-40B4-BE49-F238E27FC236}">
                <a16:creationId xmlns:a16="http://schemas.microsoft.com/office/drawing/2014/main" id="{96B838B9-5934-14B4-ED92-F35DD11002FC}"/>
              </a:ext>
            </a:extLst>
          </p:cNvPr>
          <p:cNvSpPr txBox="1"/>
          <p:nvPr/>
        </p:nvSpPr>
        <p:spPr>
          <a:xfrm>
            <a:off x="819150" y="3770184"/>
            <a:ext cx="6716183" cy="22570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D8DEE9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rPr lang="en-US" dirty="0"/>
              <a:t>Threat Actor Overview</a:t>
            </a:r>
            <a:endParaRPr dirty="0"/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12A02536-F57C-B42C-C270-87EA86B17CB8}"/>
              </a:ext>
            </a:extLst>
          </p:cNvPr>
          <p:cNvSpPr txBox="1"/>
          <p:nvPr/>
        </p:nvSpPr>
        <p:spPr>
          <a:xfrm>
            <a:off x="9144000" y="1373374"/>
            <a:ext cx="8324850" cy="70506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numCol="1" anchor="t">
            <a:spAutoFit/>
          </a:bodyPr>
          <a:lstStyle/>
          <a:p>
            <a:pPr>
              <a:lnSpc>
                <a:spcPct val="150000"/>
              </a:lnSpc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Threat Group: DarkSide</a:t>
            </a:r>
          </a:p>
          <a:p>
            <a:pPr>
              <a:lnSpc>
                <a:spcPct val="150000"/>
              </a:lnSpc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Characteristics: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b="1" dirty="0"/>
              <a:t>Cybercriminal</a:t>
            </a:r>
            <a:r>
              <a:rPr lang="en-US" sz="2800" dirty="0"/>
              <a:t> ransomware organization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Operates using a </a:t>
            </a:r>
            <a:r>
              <a:rPr lang="en-US" sz="2800" b="1" dirty="0"/>
              <a:t>Ransomware-as-a-Service</a:t>
            </a:r>
            <a:r>
              <a:rPr lang="en-US" sz="2800" dirty="0"/>
              <a:t> (RaaS) model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Targets large organizations and critical infrastructure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Uses double extortion tactics (data theft + encryption)</a:t>
            </a:r>
          </a:p>
          <a:p>
            <a:pPr>
              <a:lnSpc>
                <a:spcPct val="150000"/>
              </a:lnSpc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Attack Motivation: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b="1" dirty="0"/>
              <a:t>Financial gain</a:t>
            </a:r>
            <a:r>
              <a:rPr lang="en-US" sz="2800" dirty="0"/>
              <a:t> through ransom payments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30135869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4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704BC3-7489-D6D6-DCFC-2E4199893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5">
            <a:extLst>
              <a:ext uri="{FF2B5EF4-FFF2-40B4-BE49-F238E27FC236}">
                <a16:creationId xmlns:a16="http://schemas.microsoft.com/office/drawing/2014/main" id="{197A6006-FF76-CA80-2BEE-0C138639F671}"/>
              </a:ext>
            </a:extLst>
          </p:cNvPr>
          <p:cNvSpPr txBox="1"/>
          <p:nvPr/>
        </p:nvSpPr>
        <p:spPr>
          <a:xfrm>
            <a:off x="615950" y="4014986"/>
            <a:ext cx="8324850" cy="11285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D8DEE9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rPr lang="en-IN" dirty="0"/>
              <a:t>Project Objective</a:t>
            </a:r>
            <a:endParaRPr dirty="0"/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AF86C496-EC69-AC81-F68F-93AE08DDBD57}"/>
              </a:ext>
            </a:extLst>
          </p:cNvPr>
          <p:cNvSpPr txBox="1"/>
          <p:nvPr/>
        </p:nvSpPr>
        <p:spPr>
          <a:xfrm>
            <a:off x="8940800" y="1295010"/>
            <a:ext cx="8324850" cy="76969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/>
          <a:p>
            <a:pPr>
              <a:lnSpc>
                <a:spcPct val="150000"/>
              </a:lnSpc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The objectives of this project are: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To analyze the Colonial Pipeline ransomware attack using cyber threat intelligence methodologies.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To reconstruct the attack timeline and identify attacker techniques.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To map attacker </a:t>
            </a:r>
            <a:r>
              <a:rPr lang="en-US" sz="2800" dirty="0" err="1"/>
              <a:t>behaviour</a:t>
            </a:r>
            <a:r>
              <a:rPr lang="en-US" sz="2800" dirty="0"/>
              <a:t> using the MITRE ATT&amp;CK framework.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To evaluate the impact of the attack on critical infrastructure.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To propose defensive strategies against similar cyber attacks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319718348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A2FAA4-A189-04C8-40BB-DB23AB34F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5">
            <a:extLst>
              <a:ext uri="{FF2B5EF4-FFF2-40B4-BE49-F238E27FC236}">
                <a16:creationId xmlns:a16="http://schemas.microsoft.com/office/drawing/2014/main" id="{78F38327-D12F-4218-BDA0-9CCD53B5D156}"/>
              </a:ext>
            </a:extLst>
          </p:cNvPr>
          <p:cNvSpPr txBox="1"/>
          <p:nvPr/>
        </p:nvSpPr>
        <p:spPr>
          <a:xfrm>
            <a:off x="965454" y="3649226"/>
            <a:ext cx="10482834" cy="22570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D8DEE9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rPr lang="en-US" dirty="0"/>
              <a:t>Novelty of Developed Methodology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194888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4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4F0990-58F7-6DF6-D3FA-0C689E7C8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5">
            <a:extLst>
              <a:ext uri="{FF2B5EF4-FFF2-40B4-BE49-F238E27FC236}">
                <a16:creationId xmlns:a16="http://schemas.microsoft.com/office/drawing/2014/main" id="{CE34C340-BB5D-91C0-4AB5-AF5323DE12A3}"/>
              </a:ext>
            </a:extLst>
          </p:cNvPr>
          <p:cNvSpPr txBox="1"/>
          <p:nvPr/>
        </p:nvSpPr>
        <p:spPr>
          <a:xfrm>
            <a:off x="1059760" y="1255631"/>
            <a:ext cx="8324850" cy="22570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D8DEE9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rPr lang="en-IN" dirty="0"/>
              <a:t>Proposed Methodology</a:t>
            </a:r>
            <a:endParaRPr dirty="0"/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D11345E4-07F3-88B7-156F-7901C1705D36}"/>
              </a:ext>
            </a:extLst>
          </p:cNvPr>
          <p:cNvSpPr txBox="1"/>
          <p:nvPr/>
        </p:nvSpPr>
        <p:spPr>
          <a:xfrm>
            <a:off x="9384634" y="1299410"/>
            <a:ext cx="8324850" cy="715138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numCol="1" anchor="t">
            <a:spAutoFit/>
          </a:bodyPr>
          <a:lstStyle/>
          <a:p>
            <a:pPr algn="ctr">
              <a:lnSpc>
                <a:spcPct val="150000"/>
              </a:lnSpc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4800" dirty="0">
                <a:latin typeface="Georgia" panose="02040502050405020303" pitchFamily="18" charset="0"/>
              </a:rPr>
              <a:t>Methodology Flow:</a:t>
            </a:r>
          </a:p>
          <a:p>
            <a:pPr algn="ctr">
              <a:lnSpc>
                <a:spcPct val="150000"/>
              </a:lnSpc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400" dirty="0">
                <a:latin typeface="Georgia" panose="02040502050405020303" pitchFamily="18" charset="0"/>
              </a:rPr>
              <a:t>CTI Lifecycle</a:t>
            </a:r>
          </a:p>
          <a:p>
            <a:pPr algn="ctr">
              <a:lnSpc>
                <a:spcPct val="150000"/>
              </a:lnSpc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endParaRPr lang="en-US" sz="2400" dirty="0">
              <a:latin typeface="Georgia" panose="02040502050405020303" pitchFamily="18" charset="0"/>
            </a:endParaRPr>
          </a:p>
          <a:p>
            <a:pPr algn="ctr">
              <a:lnSpc>
                <a:spcPct val="150000"/>
              </a:lnSpc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400" dirty="0">
                <a:latin typeface="Georgia" panose="02040502050405020303" pitchFamily="18" charset="0"/>
              </a:rPr>
              <a:t>Data Collection</a:t>
            </a:r>
          </a:p>
          <a:p>
            <a:pPr algn="ctr">
              <a:lnSpc>
                <a:spcPct val="150000"/>
              </a:lnSpc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endParaRPr lang="en-US" sz="2400" dirty="0">
              <a:latin typeface="Georgia" panose="02040502050405020303" pitchFamily="18" charset="0"/>
            </a:endParaRPr>
          </a:p>
          <a:p>
            <a:pPr algn="ctr">
              <a:lnSpc>
                <a:spcPct val="150000"/>
              </a:lnSpc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400" dirty="0">
                <a:latin typeface="Georgia" panose="02040502050405020303" pitchFamily="18" charset="0"/>
              </a:rPr>
              <a:t>Data Processing</a:t>
            </a:r>
          </a:p>
          <a:p>
            <a:pPr algn="ctr">
              <a:lnSpc>
                <a:spcPct val="150000"/>
              </a:lnSpc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endParaRPr lang="en-US" sz="2400" dirty="0">
              <a:latin typeface="Georgia" panose="02040502050405020303" pitchFamily="18" charset="0"/>
            </a:endParaRPr>
          </a:p>
          <a:p>
            <a:pPr algn="ctr">
              <a:lnSpc>
                <a:spcPct val="150000"/>
              </a:lnSpc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400" dirty="0">
                <a:latin typeface="Georgia" panose="02040502050405020303" pitchFamily="18" charset="0"/>
              </a:rPr>
              <a:t>Threat Analysis</a:t>
            </a:r>
          </a:p>
          <a:p>
            <a:pPr algn="ctr">
              <a:lnSpc>
                <a:spcPct val="150000"/>
              </a:lnSpc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endParaRPr lang="en-US" sz="2400" dirty="0">
              <a:latin typeface="Georgia" panose="02040502050405020303" pitchFamily="18" charset="0"/>
            </a:endParaRPr>
          </a:p>
          <a:p>
            <a:pPr algn="ctr">
              <a:lnSpc>
                <a:spcPct val="150000"/>
              </a:lnSpc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400" dirty="0">
                <a:latin typeface="Georgia" panose="02040502050405020303" pitchFamily="18" charset="0"/>
              </a:rPr>
              <a:t>MITRE ATT&amp;CK Mapping</a:t>
            </a:r>
          </a:p>
          <a:p>
            <a:pPr algn="ctr">
              <a:lnSpc>
                <a:spcPct val="150000"/>
              </a:lnSpc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endParaRPr lang="en-US" sz="2400" dirty="0">
              <a:latin typeface="Georgia" panose="02040502050405020303" pitchFamily="18" charset="0"/>
            </a:endParaRPr>
          </a:p>
          <a:p>
            <a:pPr algn="ctr">
              <a:lnSpc>
                <a:spcPct val="150000"/>
              </a:lnSpc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400" dirty="0">
                <a:latin typeface="Georgia" panose="02040502050405020303" pitchFamily="18" charset="0"/>
              </a:rPr>
              <a:t>Intelligence Dissemination</a:t>
            </a:r>
            <a:endParaRPr sz="2400" dirty="0">
              <a:latin typeface="Georgia" panose="02040502050405020303" pitchFamily="18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CDD004A-0205-9E0F-AE51-67DF0919E983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 flipH="1">
            <a:off x="13547048" y="2978633"/>
            <a:ext cx="2" cy="55070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5E5CB86-CD21-5B71-2B3D-54BA622FC204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13547048" y="4093599"/>
            <a:ext cx="11" cy="56425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FEBC869-6BAC-E4B9-556F-72D22716FD66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flipH="1">
            <a:off x="13547054" y="5222113"/>
            <a:ext cx="5" cy="48582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694692E-4A54-5918-A726-5B8BF9FAD713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 flipH="1">
            <a:off x="13547047" y="6272194"/>
            <a:ext cx="7" cy="56425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04EBF01-5FB0-0CBE-B2A8-153586DB2A92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13547047" y="7400708"/>
            <a:ext cx="0" cy="52960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F6D7B5D-E394-9549-BEBA-35850F9EAA78}"/>
              </a:ext>
            </a:extLst>
          </p:cNvPr>
          <p:cNvSpPr/>
          <p:nvPr/>
        </p:nvSpPr>
        <p:spPr>
          <a:xfrm>
            <a:off x="12289750" y="2414376"/>
            <a:ext cx="2514600" cy="564257"/>
          </a:xfrm>
          <a:prstGeom prst="roundRect">
            <a:avLst/>
          </a:prstGeom>
          <a:noFill/>
          <a:ln w="25400" cap="flat">
            <a:solidFill>
              <a:schemeClr val="bg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623ABAC-337C-D476-0C5C-FD521CCF636B}"/>
              </a:ext>
            </a:extLst>
          </p:cNvPr>
          <p:cNvSpPr/>
          <p:nvPr/>
        </p:nvSpPr>
        <p:spPr>
          <a:xfrm>
            <a:off x="12289750" y="3529342"/>
            <a:ext cx="2514595" cy="564257"/>
          </a:xfrm>
          <a:prstGeom prst="roundRect">
            <a:avLst/>
          </a:prstGeom>
          <a:noFill/>
          <a:ln w="25400" cap="flat">
            <a:solidFill>
              <a:schemeClr val="bg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5A80134-1994-13D1-E798-60452A8CAD3A}"/>
              </a:ext>
            </a:extLst>
          </p:cNvPr>
          <p:cNvSpPr/>
          <p:nvPr/>
        </p:nvSpPr>
        <p:spPr>
          <a:xfrm>
            <a:off x="12289768" y="4657856"/>
            <a:ext cx="2514582" cy="564257"/>
          </a:xfrm>
          <a:prstGeom prst="roundRect">
            <a:avLst/>
          </a:prstGeom>
          <a:noFill/>
          <a:ln w="25400" cap="flat">
            <a:solidFill>
              <a:schemeClr val="bg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753B66E-5856-1400-2EEE-D5E56612B9F3}"/>
              </a:ext>
            </a:extLst>
          </p:cNvPr>
          <p:cNvSpPr/>
          <p:nvPr/>
        </p:nvSpPr>
        <p:spPr>
          <a:xfrm>
            <a:off x="12289763" y="5707937"/>
            <a:ext cx="2514582" cy="564257"/>
          </a:xfrm>
          <a:prstGeom prst="roundRect">
            <a:avLst/>
          </a:prstGeom>
          <a:noFill/>
          <a:ln w="25400" cap="flat">
            <a:solidFill>
              <a:schemeClr val="bg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ABB0AF7-BE72-3161-FBF5-2280755D18AC}"/>
              </a:ext>
            </a:extLst>
          </p:cNvPr>
          <p:cNvSpPr/>
          <p:nvPr/>
        </p:nvSpPr>
        <p:spPr>
          <a:xfrm>
            <a:off x="11649672" y="6836451"/>
            <a:ext cx="3794750" cy="564257"/>
          </a:xfrm>
          <a:prstGeom prst="roundRect">
            <a:avLst/>
          </a:prstGeom>
          <a:noFill/>
          <a:ln w="25400" cap="flat">
            <a:solidFill>
              <a:schemeClr val="bg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97065D4-D551-4D22-B7D0-817669879814}"/>
              </a:ext>
            </a:extLst>
          </p:cNvPr>
          <p:cNvSpPr/>
          <p:nvPr/>
        </p:nvSpPr>
        <p:spPr>
          <a:xfrm>
            <a:off x="11649672" y="7930313"/>
            <a:ext cx="3794750" cy="564257"/>
          </a:xfrm>
          <a:prstGeom prst="roundRect">
            <a:avLst/>
          </a:prstGeom>
          <a:noFill/>
          <a:ln w="25400" cap="flat">
            <a:solidFill>
              <a:schemeClr val="bg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8DD53120-CF0A-D0DC-7E6A-B2FFAA0618EE}"/>
              </a:ext>
            </a:extLst>
          </p:cNvPr>
          <p:cNvSpPr txBox="1"/>
          <p:nvPr/>
        </p:nvSpPr>
        <p:spPr>
          <a:xfrm>
            <a:off x="1059760" y="3934675"/>
            <a:ext cx="8324850" cy="4465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numCol="1" anchor="t">
            <a:spAutoFit/>
          </a:bodyPr>
          <a:lstStyle/>
          <a:p>
            <a:pPr>
              <a:lnSpc>
                <a:spcPct val="150000"/>
              </a:lnSpc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This project combines two cybersecurity methodologies: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Cyber Threat Intelligence Lifecycle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MITRE ATT&amp;CK Framework</a:t>
            </a:r>
          </a:p>
          <a:p>
            <a:pPr>
              <a:lnSpc>
                <a:spcPct val="150000"/>
              </a:lnSpc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The lifecycle provides a structured intelligence process, while MITRE ATT&amp;CK enables technical analysis of attacker tactics and techniques.</a:t>
            </a:r>
          </a:p>
        </p:txBody>
      </p:sp>
    </p:spTree>
    <p:extLst>
      <p:ext uri="{BB962C8B-B14F-4D97-AF65-F5344CB8AC3E}">
        <p14:creationId xmlns:p14="http://schemas.microsoft.com/office/powerpoint/2010/main" val="38212105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4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E71E86-199D-07CE-FB43-598955922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5">
            <a:extLst>
              <a:ext uri="{FF2B5EF4-FFF2-40B4-BE49-F238E27FC236}">
                <a16:creationId xmlns:a16="http://schemas.microsoft.com/office/drawing/2014/main" id="{1F12E78B-3CEF-80D9-5F56-DF102E7B323E}"/>
              </a:ext>
            </a:extLst>
          </p:cNvPr>
          <p:cNvSpPr txBox="1"/>
          <p:nvPr/>
        </p:nvSpPr>
        <p:spPr>
          <a:xfrm>
            <a:off x="1039284" y="4076164"/>
            <a:ext cx="5056717" cy="10673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D8DEE9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rPr lang="en-IN" sz="6000" dirty="0"/>
              <a:t>CTI Lifecycle</a:t>
            </a:r>
            <a:endParaRPr sz="6000" dirty="0"/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5AFE0A7D-57C6-A7E7-AE13-399E80671879}"/>
              </a:ext>
            </a:extLst>
          </p:cNvPr>
          <p:cNvSpPr txBox="1"/>
          <p:nvPr/>
        </p:nvSpPr>
        <p:spPr>
          <a:xfrm>
            <a:off x="9144000" y="736812"/>
            <a:ext cx="8324850" cy="88133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numCol="1" anchor="t">
            <a:spAutoFit/>
          </a:bodyPr>
          <a:lstStyle/>
          <a:p>
            <a:pPr>
              <a:lnSpc>
                <a:spcPct val="150000"/>
              </a:lnSpc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400" dirty="0"/>
              <a:t>The CTI lifecycle consists of the following stages:</a:t>
            </a:r>
          </a:p>
          <a:p>
            <a:pPr>
              <a:lnSpc>
                <a:spcPct val="150000"/>
              </a:lnSpc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400" dirty="0"/>
              <a:t>Planning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400" dirty="0"/>
              <a:t>Define the intelligence objectives and scope of analysis.</a:t>
            </a:r>
          </a:p>
          <a:p>
            <a:pPr>
              <a:lnSpc>
                <a:spcPct val="150000"/>
              </a:lnSpc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400" dirty="0"/>
              <a:t>Collection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400" dirty="0"/>
              <a:t>Gather information from cybersecurity reports, threat intelligence feeds, and incident documentation.</a:t>
            </a:r>
          </a:p>
          <a:p>
            <a:pPr>
              <a:lnSpc>
                <a:spcPct val="150000"/>
              </a:lnSpc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400" dirty="0"/>
              <a:t>Processing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400" dirty="0"/>
              <a:t>Organize and filter collected data to prepare it for analysis.</a:t>
            </a:r>
          </a:p>
          <a:p>
            <a:pPr>
              <a:lnSpc>
                <a:spcPct val="150000"/>
              </a:lnSpc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400" dirty="0"/>
              <a:t>Analysis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400" dirty="0"/>
              <a:t>Identify attack patterns, techniques, and threat actors.</a:t>
            </a:r>
          </a:p>
          <a:p>
            <a:pPr>
              <a:lnSpc>
                <a:spcPct val="150000"/>
              </a:lnSpc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400" dirty="0"/>
              <a:t>Dissemination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400" dirty="0"/>
              <a:t>Share intelligence findings with security stakeholders.</a:t>
            </a:r>
          </a:p>
          <a:p>
            <a:pPr>
              <a:lnSpc>
                <a:spcPct val="150000"/>
              </a:lnSpc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400" dirty="0"/>
              <a:t>Feedback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400" dirty="0"/>
              <a:t>Improve the intelligence process for future threat investigations.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99243657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4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E03BAC-AE42-524C-99B5-576FA5B8A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5">
            <a:extLst>
              <a:ext uri="{FF2B5EF4-FFF2-40B4-BE49-F238E27FC236}">
                <a16:creationId xmlns:a16="http://schemas.microsoft.com/office/drawing/2014/main" id="{D7C850F2-37F6-091B-1ECE-1A6F63644263}"/>
              </a:ext>
            </a:extLst>
          </p:cNvPr>
          <p:cNvSpPr txBox="1"/>
          <p:nvPr/>
        </p:nvSpPr>
        <p:spPr>
          <a:xfrm>
            <a:off x="599017" y="651246"/>
            <a:ext cx="8324850" cy="10673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D8DEE9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rPr lang="en-IN" sz="6000" dirty="0"/>
              <a:t>MITRE ATT&amp;CK</a:t>
            </a:r>
            <a:endParaRPr sz="6000" dirty="0"/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B92A3E7F-8378-C7ED-4394-03FF8582A2BB}"/>
              </a:ext>
            </a:extLst>
          </p:cNvPr>
          <p:cNvSpPr txBox="1"/>
          <p:nvPr/>
        </p:nvSpPr>
        <p:spPr>
          <a:xfrm>
            <a:off x="599017" y="2214535"/>
            <a:ext cx="8324850" cy="70173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numCol="1" anchor="t">
            <a:spAutoFit/>
          </a:bodyPr>
          <a:lstStyle/>
          <a:p>
            <a:pPr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400" dirty="0"/>
              <a:t>The MITRE ATT&amp;CK framework is a globally accessible knowledge base of adversary tactics and techniques based on real-world observations. It helps cybersecurity teams understand attacker </a:t>
            </a:r>
            <a:r>
              <a:rPr lang="en-US" sz="2400" dirty="0" err="1"/>
              <a:t>behaviour</a:t>
            </a:r>
            <a:r>
              <a:rPr lang="en-US" sz="2400" dirty="0"/>
              <a:t>, detect threats, and improve defensive strategies.</a:t>
            </a:r>
          </a:p>
          <a:p>
            <a:pPr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400" dirty="0"/>
              <a:t>Tactics</a:t>
            </a:r>
          </a:p>
          <a:p>
            <a:pPr marL="342900" indent="-342900"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400" dirty="0"/>
              <a:t>High-level attacker goals that represent the “why” behind an attack stage (e.g., gaining access, maintaining persistence, or exfiltrating data).</a:t>
            </a:r>
          </a:p>
          <a:p>
            <a:pPr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400" dirty="0"/>
              <a:t>Techniques</a:t>
            </a:r>
          </a:p>
          <a:p>
            <a:pPr marL="342900" indent="-342900"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400" dirty="0"/>
              <a:t>Specific methods adversaries use to achieve a tactic. Each tactic contains multiple techniques describing how attackers operate.</a:t>
            </a:r>
          </a:p>
          <a:p>
            <a:pPr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400" dirty="0"/>
              <a:t>Sub-Techniques</a:t>
            </a:r>
          </a:p>
          <a:p>
            <a:pPr marL="342900" indent="-342900"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400" dirty="0"/>
              <a:t>More detailed variations of techniques that provide deeper insight into specific attacker behaviors.</a:t>
            </a:r>
          </a:p>
          <a:p>
            <a:pPr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400" dirty="0"/>
              <a:t>Procedures</a:t>
            </a:r>
          </a:p>
          <a:p>
            <a:pPr marL="342900" indent="-342900"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400" dirty="0"/>
              <a:t>Real-world implementations of techniques used by threat actors in actual attacks.</a:t>
            </a: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391B69F5-9A98-A526-EF99-EEE63F9FE5AF}"/>
              </a:ext>
            </a:extLst>
          </p:cNvPr>
          <p:cNvSpPr txBox="1"/>
          <p:nvPr/>
        </p:nvSpPr>
        <p:spPr>
          <a:xfrm>
            <a:off x="9516533" y="2216401"/>
            <a:ext cx="8324850" cy="553997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numCol="1" anchor="t">
            <a:spAutoFit/>
          </a:bodyPr>
          <a:lstStyle/>
          <a:p>
            <a:pPr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400" dirty="0"/>
              <a:t>Mitigations</a:t>
            </a:r>
          </a:p>
          <a:p>
            <a:pPr marL="342900" indent="-342900"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400" dirty="0"/>
              <a:t>Security controls and defensive measures that can reduce or prevent the effectiveness of attacker techniques.</a:t>
            </a:r>
          </a:p>
          <a:p>
            <a:pPr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400" dirty="0"/>
              <a:t>Detections</a:t>
            </a:r>
          </a:p>
          <a:p>
            <a:pPr marL="342900" indent="-342900"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400" dirty="0"/>
              <a:t>Guidance on identifying malicious activity by monitoring logs, system </a:t>
            </a:r>
            <a:r>
              <a:rPr lang="en-US" sz="2400" dirty="0" err="1"/>
              <a:t>behaviour</a:t>
            </a:r>
            <a:r>
              <a:rPr lang="en-US" sz="2400" dirty="0"/>
              <a:t>, and network events related to ATT&amp;CK techniques.</a:t>
            </a:r>
          </a:p>
          <a:p>
            <a:pPr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400" dirty="0"/>
              <a:t>Groups (Threat Actors)</a:t>
            </a:r>
          </a:p>
          <a:p>
            <a:pPr marL="342900" indent="-342900"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400" dirty="0"/>
              <a:t>Documented adversary groups whose campaigns and behaviors map to ATT&amp;CK techniques.</a:t>
            </a:r>
          </a:p>
          <a:p>
            <a:pPr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400" dirty="0"/>
              <a:t>.ATT&amp;CK Matrices</a:t>
            </a:r>
          </a:p>
          <a:p>
            <a:pPr marL="342900" indent="-342900"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400" dirty="0"/>
              <a:t>Structured views (Enterprise, Mobile, ICS) that organize tactics and techniques across the attack lifecycle for easier analysis and defense planning.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15258116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4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F5CC44-10DC-E637-8CB5-655103E41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Box 2">
            <a:extLst>
              <a:ext uri="{FF2B5EF4-FFF2-40B4-BE49-F238E27FC236}">
                <a16:creationId xmlns:a16="http://schemas.microsoft.com/office/drawing/2014/main" id="{7B76AC52-E0E3-08D2-606F-EE3100A5A4E1}"/>
              </a:ext>
            </a:extLst>
          </p:cNvPr>
          <p:cNvSpPr txBox="1"/>
          <p:nvPr/>
        </p:nvSpPr>
        <p:spPr>
          <a:xfrm>
            <a:off x="687934" y="853884"/>
            <a:ext cx="17600066" cy="10985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800"/>
              </a:lnSpc>
              <a:defRPr sz="7000">
                <a:solidFill>
                  <a:srgbClr val="D8DEE9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rPr lang="en-US" dirty="0"/>
              <a:t>Novelty</a:t>
            </a:r>
            <a:endParaRPr dirty="0"/>
          </a:p>
        </p:txBody>
      </p:sp>
      <p:sp>
        <p:nvSpPr>
          <p:cNvPr id="111" name="TextBox 3">
            <a:extLst>
              <a:ext uri="{FF2B5EF4-FFF2-40B4-BE49-F238E27FC236}">
                <a16:creationId xmlns:a16="http://schemas.microsoft.com/office/drawing/2014/main" id="{8B44BD62-40D4-1144-103E-C24DFA11ECA3}"/>
              </a:ext>
            </a:extLst>
          </p:cNvPr>
          <p:cNvSpPr txBox="1"/>
          <p:nvPr/>
        </p:nvSpPr>
        <p:spPr>
          <a:xfrm>
            <a:off x="687934" y="3196459"/>
            <a:ext cx="7191376" cy="5111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Integration of MITRE ATT&amp;CK mapping with CTI lifecycle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Combines technical threat intelligence with strategic analysis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Uses attack chain reconstruction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Enables predictive threat modeling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Provides actionable intelligence for future ransomware defense</a:t>
            </a:r>
            <a:endParaRPr sz="2800" dirty="0"/>
          </a:p>
        </p:txBody>
      </p:sp>
      <p:sp>
        <p:nvSpPr>
          <p:cNvPr id="112" name="TextBox 4">
            <a:extLst>
              <a:ext uri="{FF2B5EF4-FFF2-40B4-BE49-F238E27FC236}">
                <a16:creationId xmlns:a16="http://schemas.microsoft.com/office/drawing/2014/main" id="{7B7E7414-478E-B32D-DEAC-89C10F2A5085}"/>
              </a:ext>
            </a:extLst>
          </p:cNvPr>
          <p:cNvSpPr txBox="1"/>
          <p:nvPr/>
        </p:nvSpPr>
        <p:spPr>
          <a:xfrm>
            <a:off x="687934" y="2336209"/>
            <a:ext cx="7191376" cy="671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sz="2600" b="1">
                <a:solidFill>
                  <a:srgbClr val="D8DEE9"/>
                </a:solidFill>
                <a:latin typeface="DM Sans Bold"/>
                <a:ea typeface="DM Sans Bold"/>
                <a:cs typeface="DM Sans Bold"/>
                <a:sym typeface="DM Sans Bold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200" dirty="0"/>
              <a:t>Proposed Methodology Innovation:</a:t>
            </a:r>
            <a:endParaRPr sz="3200" dirty="0"/>
          </a:p>
        </p:txBody>
      </p:sp>
      <p:sp>
        <p:nvSpPr>
          <p:cNvPr id="113" name="TextBox 5">
            <a:extLst>
              <a:ext uri="{FF2B5EF4-FFF2-40B4-BE49-F238E27FC236}">
                <a16:creationId xmlns:a16="http://schemas.microsoft.com/office/drawing/2014/main" id="{DCC6DB27-E4A3-53DC-4B1A-702F52EDDB05}"/>
              </a:ext>
            </a:extLst>
          </p:cNvPr>
          <p:cNvSpPr txBox="1"/>
          <p:nvPr/>
        </p:nvSpPr>
        <p:spPr>
          <a:xfrm>
            <a:off x="9409903" y="3196459"/>
            <a:ext cx="7191376" cy="1880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Better incident understanding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Improved defensive strategies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Early detection capability</a:t>
            </a:r>
            <a:endParaRPr sz="2800" dirty="0"/>
          </a:p>
        </p:txBody>
      </p:sp>
      <p:sp>
        <p:nvSpPr>
          <p:cNvPr id="114" name="TextBox 6">
            <a:extLst>
              <a:ext uri="{FF2B5EF4-FFF2-40B4-BE49-F238E27FC236}">
                <a16:creationId xmlns:a16="http://schemas.microsoft.com/office/drawing/2014/main" id="{66EEF18D-611D-A378-8D98-A0F5D1A3C335}"/>
              </a:ext>
            </a:extLst>
          </p:cNvPr>
          <p:cNvSpPr txBox="1"/>
          <p:nvPr/>
        </p:nvSpPr>
        <p:spPr>
          <a:xfrm>
            <a:off x="9409903" y="2336209"/>
            <a:ext cx="7191376" cy="671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sz="2600" b="1">
                <a:solidFill>
                  <a:srgbClr val="D8DEE9"/>
                </a:solidFill>
                <a:latin typeface="DM Sans Bold"/>
                <a:ea typeface="DM Sans Bold"/>
                <a:cs typeface="DM Sans Bold"/>
                <a:sym typeface="DM Sans Bold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200" dirty="0"/>
              <a:t>Benefits:</a:t>
            </a:r>
            <a:endParaRPr sz="3200" dirty="0"/>
          </a:p>
        </p:txBody>
      </p:sp>
    </p:spTree>
    <p:extLst>
      <p:ext uri="{BB962C8B-B14F-4D97-AF65-F5344CB8AC3E}">
        <p14:creationId xmlns:p14="http://schemas.microsoft.com/office/powerpoint/2010/main" val="422883977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A818B7-1DA0-8396-260E-9E74DFEA9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5">
            <a:extLst>
              <a:ext uri="{FF2B5EF4-FFF2-40B4-BE49-F238E27FC236}">
                <a16:creationId xmlns:a16="http://schemas.microsoft.com/office/drawing/2014/main" id="{902E1EBA-8FD0-AF7A-52E8-6E7BE88DC2AB}"/>
              </a:ext>
            </a:extLst>
          </p:cNvPr>
          <p:cNvSpPr txBox="1"/>
          <p:nvPr/>
        </p:nvSpPr>
        <p:spPr>
          <a:xfrm>
            <a:off x="965454" y="4014986"/>
            <a:ext cx="10482834" cy="11285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D8DEE9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rPr lang="en-US" dirty="0"/>
              <a:t>Implementation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0654544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2"/>
          <p:cNvSpPr txBox="1"/>
          <p:nvPr/>
        </p:nvSpPr>
        <p:spPr>
          <a:xfrm>
            <a:off x="279173" y="733425"/>
            <a:ext cx="17961514" cy="1127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D8DEE9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rPr dirty="0"/>
              <a:t>D</a:t>
            </a:r>
            <a:r>
              <a:rPr lang="en-US" dirty="0"/>
              <a:t>ata Collection Implementation</a:t>
            </a:r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D13DB45-74FE-3585-6A78-8371338C53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3896159"/>
              </p:ext>
            </p:extLst>
          </p:nvPr>
        </p:nvGraphicFramePr>
        <p:xfrm>
          <a:off x="697830" y="2066089"/>
          <a:ext cx="16892336" cy="7727615"/>
        </p:xfrm>
        <a:graphic>
          <a:graphicData uri="http://schemas.openxmlformats.org/drawingml/2006/table">
            <a:tbl>
              <a:tblPr firstRow="1" bandRow="1">
                <a:tableStyleId>{33BA23B1-9221-436E-865A-0063620EA4FD}</a:tableStyleId>
              </a:tblPr>
              <a:tblGrid>
                <a:gridCol w="4223084">
                  <a:extLst>
                    <a:ext uri="{9D8B030D-6E8A-4147-A177-3AD203B41FA5}">
                      <a16:colId xmlns:a16="http://schemas.microsoft.com/office/drawing/2014/main" val="3908536290"/>
                    </a:ext>
                  </a:extLst>
                </a:gridCol>
                <a:gridCol w="4223084">
                  <a:extLst>
                    <a:ext uri="{9D8B030D-6E8A-4147-A177-3AD203B41FA5}">
                      <a16:colId xmlns:a16="http://schemas.microsoft.com/office/drawing/2014/main" val="802838475"/>
                    </a:ext>
                  </a:extLst>
                </a:gridCol>
                <a:gridCol w="4223084">
                  <a:extLst>
                    <a:ext uri="{9D8B030D-6E8A-4147-A177-3AD203B41FA5}">
                      <a16:colId xmlns:a16="http://schemas.microsoft.com/office/drawing/2014/main" val="1501525978"/>
                    </a:ext>
                  </a:extLst>
                </a:gridCol>
                <a:gridCol w="4223084">
                  <a:extLst>
                    <a:ext uri="{9D8B030D-6E8A-4147-A177-3AD203B41FA5}">
                      <a16:colId xmlns:a16="http://schemas.microsoft.com/office/drawing/2014/main" val="1879222587"/>
                    </a:ext>
                  </a:extLst>
                </a:gridCol>
              </a:tblGrid>
              <a:tr h="11039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 dirty="0"/>
                        <a:t>Source Type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 dirty="0"/>
                        <a:t>Source Name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 dirty="0"/>
                        <a:t>Information Collected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 dirty="0"/>
                        <a:t>Purpose in Analysis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8699811"/>
                  </a:ext>
                </a:extLst>
              </a:tr>
              <a:tr h="11039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Government Cybersecurity Agency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CISA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800" dirty="0"/>
                        <a:t>Incident alerts and ransomware indicators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Understanding official incident details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1387601"/>
                  </a:ext>
                </a:extLst>
              </a:tr>
              <a:tr h="11039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Law Enforcement Agency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FBI Cyber Division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Investigation reports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Threat actor behaviour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0101326"/>
                  </a:ext>
                </a:extLst>
              </a:tr>
              <a:tr h="11039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Threat Intelligence Framework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MITRE ATT&amp;CK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Attacker tactics and techniques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Technical attack mapping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8990955"/>
                  </a:ext>
                </a:extLst>
              </a:tr>
              <a:tr h="11039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Cybersecurity Research Reports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Industry threat analysis reports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Attack methods and vulnerabilities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Reconstruction of attack stages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7664960"/>
                  </a:ext>
                </a:extLst>
              </a:tr>
              <a:tr h="11039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News and Incident Reports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Verified cybersecurity news sources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Timeline of events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Validation of incident chronology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6193487"/>
                  </a:ext>
                </a:extLst>
              </a:tr>
              <a:tr h="11039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Organizational Statements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Colonial Pipeline statements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Operational impact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Understanding organizational response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576894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4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5249D3-1C6F-CF94-4B4E-3C34B65FC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2">
            <a:extLst>
              <a:ext uri="{FF2B5EF4-FFF2-40B4-BE49-F238E27FC236}">
                <a16:creationId xmlns:a16="http://schemas.microsoft.com/office/drawing/2014/main" id="{10E3C1B2-A21A-AE4C-02CF-8549E8B20359}"/>
              </a:ext>
            </a:extLst>
          </p:cNvPr>
          <p:cNvSpPr txBox="1"/>
          <p:nvPr/>
        </p:nvSpPr>
        <p:spPr>
          <a:xfrm>
            <a:off x="279173" y="733425"/>
            <a:ext cx="17961514" cy="1127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D8DEE9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rPr lang="en-US" dirty="0"/>
              <a:t>Attack Timeline Reconstruction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D54FB5C-DD61-9A56-38CA-BDD64A85DA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426298"/>
              </p:ext>
            </p:extLst>
          </p:nvPr>
        </p:nvGraphicFramePr>
        <p:xfrm>
          <a:off x="553453" y="2176780"/>
          <a:ext cx="17205159" cy="7592864"/>
        </p:xfrm>
        <a:graphic>
          <a:graphicData uri="http://schemas.openxmlformats.org/drawingml/2006/table">
            <a:tbl>
              <a:tblPr firstRow="1" bandRow="1">
                <a:tableStyleId>{33BA23B1-9221-436E-865A-0063620EA4FD}</a:tableStyleId>
              </a:tblPr>
              <a:tblGrid>
                <a:gridCol w="5735053">
                  <a:extLst>
                    <a:ext uri="{9D8B030D-6E8A-4147-A177-3AD203B41FA5}">
                      <a16:colId xmlns:a16="http://schemas.microsoft.com/office/drawing/2014/main" val="2135929849"/>
                    </a:ext>
                  </a:extLst>
                </a:gridCol>
                <a:gridCol w="5735053">
                  <a:extLst>
                    <a:ext uri="{9D8B030D-6E8A-4147-A177-3AD203B41FA5}">
                      <a16:colId xmlns:a16="http://schemas.microsoft.com/office/drawing/2014/main" val="158779685"/>
                    </a:ext>
                  </a:extLst>
                </a:gridCol>
                <a:gridCol w="5735053">
                  <a:extLst>
                    <a:ext uri="{9D8B030D-6E8A-4147-A177-3AD203B41FA5}">
                      <a16:colId xmlns:a16="http://schemas.microsoft.com/office/drawing/2014/main" val="3175776957"/>
                    </a:ext>
                  </a:extLst>
                </a:gridCol>
              </a:tblGrid>
              <a:tr h="9491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4000" dirty="0"/>
                        <a:t>Date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4000" dirty="0"/>
                        <a:t>Event Description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4000" dirty="0"/>
                        <a:t>Impact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3624081"/>
                  </a:ext>
                </a:extLst>
              </a:tr>
              <a:tr h="9491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May 6, 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800" dirty="0"/>
                        <a:t>Attackers accessed network through compromised VPN credentials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Unauthorized network entry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3730659"/>
                  </a:ext>
                </a:extLst>
              </a:tr>
              <a:tr h="9491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May 7, 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Ransomware deployed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IT systems encrypted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4006822"/>
                  </a:ext>
                </a:extLst>
              </a:tr>
              <a:tr h="9491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May 7, 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800" dirty="0"/>
                        <a:t>Colonial Pipeline shut down operations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Fuel supply disruption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4030858"/>
                  </a:ext>
                </a:extLst>
              </a:tr>
              <a:tr h="9491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May 8, 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Federal investigation initiated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Incident response activated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738334"/>
                  </a:ext>
                </a:extLst>
              </a:tr>
              <a:tr h="9491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May 8, 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800" dirty="0"/>
                        <a:t>Ransom payment of $4.4 million made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Decryption tool obtained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9788870"/>
                  </a:ext>
                </a:extLst>
              </a:tr>
              <a:tr h="9491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May 9–12, 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Systems gradually restored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Operational recovery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9285505"/>
                  </a:ext>
                </a:extLst>
              </a:tr>
              <a:tr h="9491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May 13, 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Pipeline operations resumed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Fuel supply normalized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6705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4588010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4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5FF66C-1D60-5FD1-5C79-BD610E769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2">
            <a:extLst>
              <a:ext uri="{FF2B5EF4-FFF2-40B4-BE49-F238E27FC236}">
                <a16:creationId xmlns:a16="http://schemas.microsoft.com/office/drawing/2014/main" id="{9385072F-700F-75FF-A72A-24EF268B2895}"/>
              </a:ext>
            </a:extLst>
          </p:cNvPr>
          <p:cNvSpPr txBox="1"/>
          <p:nvPr/>
        </p:nvSpPr>
        <p:spPr>
          <a:xfrm>
            <a:off x="831429" y="239649"/>
            <a:ext cx="16625141" cy="1127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D8DEE9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rPr lang="en-US" dirty="0"/>
              <a:t>MITRE ATT&amp;CK Technique Mapping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A5E0972-CEEB-D675-8567-F3D8CA6ED4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231130"/>
              </p:ext>
            </p:extLst>
          </p:nvPr>
        </p:nvGraphicFramePr>
        <p:xfrm>
          <a:off x="577515" y="1485055"/>
          <a:ext cx="17132970" cy="8562296"/>
        </p:xfrm>
        <a:graphic>
          <a:graphicData uri="http://schemas.openxmlformats.org/drawingml/2006/table">
            <a:tbl>
              <a:tblPr firstRow="1" bandRow="1">
                <a:tableStyleId>{33BA23B1-9221-436E-865A-0063620EA4FD}</a:tableStyleId>
              </a:tblPr>
              <a:tblGrid>
                <a:gridCol w="3426594">
                  <a:extLst>
                    <a:ext uri="{9D8B030D-6E8A-4147-A177-3AD203B41FA5}">
                      <a16:colId xmlns:a16="http://schemas.microsoft.com/office/drawing/2014/main" val="2078150156"/>
                    </a:ext>
                  </a:extLst>
                </a:gridCol>
                <a:gridCol w="3426594">
                  <a:extLst>
                    <a:ext uri="{9D8B030D-6E8A-4147-A177-3AD203B41FA5}">
                      <a16:colId xmlns:a16="http://schemas.microsoft.com/office/drawing/2014/main" val="3213695584"/>
                    </a:ext>
                  </a:extLst>
                </a:gridCol>
                <a:gridCol w="3426594">
                  <a:extLst>
                    <a:ext uri="{9D8B030D-6E8A-4147-A177-3AD203B41FA5}">
                      <a16:colId xmlns:a16="http://schemas.microsoft.com/office/drawing/2014/main" val="1501054318"/>
                    </a:ext>
                  </a:extLst>
                </a:gridCol>
                <a:gridCol w="3426594">
                  <a:extLst>
                    <a:ext uri="{9D8B030D-6E8A-4147-A177-3AD203B41FA5}">
                      <a16:colId xmlns:a16="http://schemas.microsoft.com/office/drawing/2014/main" val="1003942068"/>
                    </a:ext>
                  </a:extLst>
                </a:gridCol>
                <a:gridCol w="3426594">
                  <a:extLst>
                    <a:ext uri="{9D8B030D-6E8A-4147-A177-3AD203B41FA5}">
                      <a16:colId xmlns:a16="http://schemas.microsoft.com/office/drawing/2014/main" val="3442584200"/>
                    </a:ext>
                  </a:extLst>
                </a:gridCol>
              </a:tblGrid>
              <a:tr h="12718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Attack Stage</a:t>
                      </a:r>
                    </a:p>
                  </a:txBody>
                  <a:tcPr anchor="ctr"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MITRE ATT&amp;CK Tactic</a:t>
                      </a:r>
                    </a:p>
                  </a:txBody>
                  <a:tcPr anchor="ctr"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Technique</a:t>
                      </a:r>
                    </a:p>
                  </a:txBody>
                  <a:tcPr anchor="ctr"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Technique ID</a:t>
                      </a:r>
                    </a:p>
                  </a:txBody>
                  <a:tcPr anchor="ctr"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Description</a:t>
                      </a:r>
                    </a:p>
                  </a:txBody>
                  <a:tcPr anchor="ctr">
                    <a:solidFill>
                      <a:srgbClr val="2E3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061449"/>
                  </a:ext>
                </a:extLst>
              </a:tr>
              <a:tr h="12718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 dirty="0"/>
                        <a:t>Initial 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 dirty="0"/>
                        <a:t>Initial 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 dirty="0"/>
                        <a:t>Valid Accounts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 b="1" dirty="0"/>
                        <a:t>T1078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dirty="0"/>
                        <a:t>Attackers used compromised VPN credentials to access Colonial Pipeline's network.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5329044"/>
                  </a:ext>
                </a:extLst>
              </a:tr>
              <a:tr h="12718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 dirty="0"/>
                        <a:t>Credential 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 dirty="0"/>
                        <a:t>Credential 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 dirty="0"/>
                        <a:t>Credential Dumping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 b="1" dirty="0"/>
                        <a:t>T1003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dirty="0"/>
                        <a:t>Attackers extracted credentials from systems to gain further access.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6970874"/>
                  </a:ext>
                </a:extLst>
              </a:tr>
              <a:tr h="12718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 dirty="0"/>
                        <a:t>Privilege Escalation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 dirty="0"/>
                        <a:t>Privilege Escalation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 dirty="0"/>
                        <a:t>Exploitation for Privilege Escalation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 b="1" dirty="0"/>
                        <a:t>T1068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dirty="0"/>
                        <a:t>Attackers elevated privileges to gain administrative control.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0437763"/>
                  </a:ext>
                </a:extLst>
              </a:tr>
              <a:tr h="12718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 dirty="0"/>
                        <a:t>Persistence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 dirty="0"/>
                        <a:t>Persistence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 dirty="0"/>
                        <a:t>Valid Accounts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 b="1" dirty="0"/>
                        <a:t>T1078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dirty="0"/>
                        <a:t>Stolen credentials allowed attackers to maintain persistent access.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7457723"/>
                  </a:ext>
                </a:extLst>
              </a:tr>
              <a:tr h="12718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 dirty="0"/>
                        <a:t>Lateral Movement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 dirty="0"/>
                        <a:t>Lateral Movement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 dirty="0"/>
                        <a:t>Remote Services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 b="1" dirty="0"/>
                        <a:t>T1021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dirty="0"/>
                        <a:t>Attackers moved laterally across internal systems.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95824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400583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4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A28FC3-C783-DCB9-C085-E27851871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2">
            <a:extLst>
              <a:ext uri="{FF2B5EF4-FFF2-40B4-BE49-F238E27FC236}">
                <a16:creationId xmlns:a16="http://schemas.microsoft.com/office/drawing/2014/main" id="{8BBED47C-164C-0D19-BC68-E104E362B620}"/>
              </a:ext>
            </a:extLst>
          </p:cNvPr>
          <p:cNvSpPr txBox="1"/>
          <p:nvPr/>
        </p:nvSpPr>
        <p:spPr>
          <a:xfrm>
            <a:off x="831429" y="1245489"/>
            <a:ext cx="16625141" cy="1127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D8DEE9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rPr lang="en-US" dirty="0"/>
              <a:t>MITRE ATT&amp;CK Technique Mapping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64A51CD-8E43-817E-6176-62C6F80848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488326"/>
              </p:ext>
            </p:extLst>
          </p:nvPr>
        </p:nvGraphicFramePr>
        <p:xfrm>
          <a:off x="831429" y="2560828"/>
          <a:ext cx="16625140" cy="6121781"/>
        </p:xfrm>
        <a:graphic>
          <a:graphicData uri="http://schemas.openxmlformats.org/drawingml/2006/table">
            <a:tbl>
              <a:tblPr firstRow="1" bandRow="1">
                <a:tableStyleId>{33BA23B1-9221-436E-865A-0063620EA4FD}</a:tableStyleId>
              </a:tblPr>
              <a:tblGrid>
                <a:gridCol w="3325028">
                  <a:extLst>
                    <a:ext uri="{9D8B030D-6E8A-4147-A177-3AD203B41FA5}">
                      <a16:colId xmlns:a16="http://schemas.microsoft.com/office/drawing/2014/main" val="3157290371"/>
                    </a:ext>
                  </a:extLst>
                </a:gridCol>
                <a:gridCol w="3325028">
                  <a:extLst>
                    <a:ext uri="{9D8B030D-6E8A-4147-A177-3AD203B41FA5}">
                      <a16:colId xmlns:a16="http://schemas.microsoft.com/office/drawing/2014/main" val="1947762219"/>
                    </a:ext>
                  </a:extLst>
                </a:gridCol>
                <a:gridCol w="3325028">
                  <a:extLst>
                    <a:ext uri="{9D8B030D-6E8A-4147-A177-3AD203B41FA5}">
                      <a16:colId xmlns:a16="http://schemas.microsoft.com/office/drawing/2014/main" val="2162347351"/>
                    </a:ext>
                  </a:extLst>
                </a:gridCol>
                <a:gridCol w="3325028">
                  <a:extLst>
                    <a:ext uri="{9D8B030D-6E8A-4147-A177-3AD203B41FA5}">
                      <a16:colId xmlns:a16="http://schemas.microsoft.com/office/drawing/2014/main" val="627370943"/>
                    </a:ext>
                  </a:extLst>
                </a:gridCol>
                <a:gridCol w="3325028">
                  <a:extLst>
                    <a:ext uri="{9D8B030D-6E8A-4147-A177-3AD203B41FA5}">
                      <a16:colId xmlns:a16="http://schemas.microsoft.com/office/drawing/2014/main" val="1577535488"/>
                    </a:ext>
                  </a:extLst>
                </a:gridCol>
              </a:tblGrid>
              <a:tr h="145834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Attack Stage</a:t>
                      </a:r>
                    </a:p>
                  </a:txBody>
                  <a:tcPr anchor="ctr"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MITRE ATT&amp;CK Tactic</a:t>
                      </a:r>
                    </a:p>
                  </a:txBody>
                  <a:tcPr anchor="ctr"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Technique</a:t>
                      </a:r>
                    </a:p>
                  </a:txBody>
                  <a:tcPr anchor="ctr"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Technique ID</a:t>
                      </a:r>
                    </a:p>
                  </a:txBody>
                  <a:tcPr anchor="ctr"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Description</a:t>
                      </a:r>
                    </a:p>
                  </a:txBody>
                  <a:tcPr anchor="ctr">
                    <a:solidFill>
                      <a:srgbClr val="2E3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787097"/>
                  </a:ext>
                </a:extLst>
              </a:tr>
              <a:tr h="145834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 dirty="0"/>
                        <a:t>Command &amp;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 dirty="0"/>
                        <a:t>Command and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 dirty="0"/>
                        <a:t>Encrypted Channel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 b="1" dirty="0"/>
                        <a:t>T1573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dirty="0"/>
                        <a:t>Attackers communicated with external servers using encrypted channels.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2584092"/>
                  </a:ext>
                </a:extLst>
              </a:tr>
              <a:tr h="145834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 dirty="0"/>
                        <a:t>Exfiltration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 dirty="0"/>
                        <a:t>Exfiltration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dirty="0"/>
                        <a:t>Exfiltration Over Command and Control Channel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 b="1" dirty="0"/>
                        <a:t>T1041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dirty="0"/>
                        <a:t>Sensitive data was transferred outside the network before encryption.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9442292"/>
                  </a:ext>
                </a:extLst>
              </a:tr>
              <a:tr h="145834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 dirty="0"/>
                        <a:t>Impact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dirty="0"/>
                        <a:t>I</a:t>
                      </a:r>
                      <a:r>
                        <a:rPr lang="en-IN" sz="2400" dirty="0"/>
                        <a:t>mpact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 dirty="0"/>
                        <a:t>Data Encrypted for Impact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 b="1" dirty="0"/>
                        <a:t>T1486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dirty="0"/>
                        <a:t>Ransomware encrypted systems to disrupt operations and demand ransom.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332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4752975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4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E64746-F9B7-0123-528F-3FAA07BF6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2">
            <a:extLst>
              <a:ext uri="{FF2B5EF4-FFF2-40B4-BE49-F238E27FC236}">
                <a16:creationId xmlns:a16="http://schemas.microsoft.com/office/drawing/2014/main" id="{DEF4E444-4AC0-C374-BD2C-C403D048BCAF}"/>
              </a:ext>
            </a:extLst>
          </p:cNvPr>
          <p:cNvSpPr txBox="1"/>
          <p:nvPr/>
        </p:nvSpPr>
        <p:spPr>
          <a:xfrm>
            <a:off x="279173" y="733425"/>
            <a:ext cx="17961514" cy="1127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D8DEE9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rPr lang="en-US" dirty="0"/>
              <a:t>Impact Assessment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D059FCF-229C-758C-81FB-EE5EDA0ED8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6654118"/>
              </p:ext>
            </p:extLst>
          </p:nvPr>
        </p:nvGraphicFramePr>
        <p:xfrm>
          <a:off x="713232" y="1861165"/>
          <a:ext cx="16733520" cy="7692412"/>
        </p:xfrm>
        <a:graphic>
          <a:graphicData uri="http://schemas.openxmlformats.org/drawingml/2006/table">
            <a:tbl>
              <a:tblPr firstRow="1" bandRow="1">
                <a:tableStyleId>{33BA23B1-9221-436E-865A-0063620EA4FD}</a:tableStyleId>
              </a:tblPr>
              <a:tblGrid>
                <a:gridCol w="4956048">
                  <a:extLst>
                    <a:ext uri="{9D8B030D-6E8A-4147-A177-3AD203B41FA5}">
                      <a16:colId xmlns:a16="http://schemas.microsoft.com/office/drawing/2014/main" val="4100090027"/>
                    </a:ext>
                  </a:extLst>
                </a:gridCol>
                <a:gridCol w="11777472">
                  <a:extLst>
                    <a:ext uri="{9D8B030D-6E8A-4147-A177-3AD203B41FA5}">
                      <a16:colId xmlns:a16="http://schemas.microsoft.com/office/drawing/2014/main" val="1078401352"/>
                    </a:ext>
                  </a:extLst>
                </a:gridCol>
              </a:tblGrid>
              <a:tr h="10989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600" dirty="0"/>
                        <a:t>Impact Category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600" dirty="0"/>
                        <a:t>Description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8534875"/>
                  </a:ext>
                </a:extLst>
              </a:tr>
              <a:tr h="10989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600" dirty="0"/>
                        <a:t>Operational Impact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600" dirty="0"/>
                        <a:t>Shutdown of pipeline operations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8000209"/>
                  </a:ext>
                </a:extLst>
              </a:tr>
              <a:tr h="10989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600" dirty="0"/>
                        <a:t>Economic Impact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600" dirty="0"/>
                        <a:t>Fuel shortages and price increases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6865605"/>
                  </a:ext>
                </a:extLst>
              </a:tr>
              <a:tr h="10989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600" dirty="0"/>
                        <a:t>Infrastructure Impact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600" dirty="0"/>
                        <a:t>Disruption of East Coast fuel supply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8230377"/>
                  </a:ext>
                </a:extLst>
              </a:tr>
              <a:tr h="10989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600" dirty="0"/>
                        <a:t>Organizational Impact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600" dirty="0"/>
                        <a:t>Emergency response and system shutdown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8100186"/>
                  </a:ext>
                </a:extLst>
              </a:tr>
              <a:tr h="10989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600" dirty="0"/>
                        <a:t>Financial Impact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600" dirty="0"/>
                        <a:t>$4.4 million ransom payment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2533107"/>
                  </a:ext>
                </a:extLst>
              </a:tr>
              <a:tr h="10989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600" dirty="0"/>
                        <a:t>National Security Impact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600" dirty="0"/>
                        <a:t>Exposure of critical infrastructure vulnerabilities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0800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5684496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4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061831-E2DA-C0C2-7A05-43007319D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2">
            <a:extLst>
              <a:ext uri="{FF2B5EF4-FFF2-40B4-BE49-F238E27FC236}">
                <a16:creationId xmlns:a16="http://schemas.microsoft.com/office/drawing/2014/main" id="{B7F2D45E-428D-DC48-2A19-6A309C37F9CF}"/>
              </a:ext>
            </a:extLst>
          </p:cNvPr>
          <p:cNvSpPr txBox="1"/>
          <p:nvPr/>
        </p:nvSpPr>
        <p:spPr>
          <a:xfrm>
            <a:off x="279173" y="733425"/>
            <a:ext cx="17961514" cy="1127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D8DEE9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rPr lang="en-US" dirty="0"/>
              <a:t>Defensive Measures</a:t>
            </a:r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63B1E25-2919-1C5B-077F-69269F3F53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2410"/>
              </p:ext>
            </p:extLst>
          </p:nvPr>
        </p:nvGraphicFramePr>
        <p:xfrm>
          <a:off x="457200" y="1861166"/>
          <a:ext cx="17355312" cy="7849765"/>
        </p:xfrm>
        <a:graphic>
          <a:graphicData uri="http://schemas.openxmlformats.org/drawingml/2006/table">
            <a:tbl>
              <a:tblPr firstRow="1" bandRow="1">
                <a:tableStyleId>{33BA23B1-9221-436E-865A-0063620EA4FD}</a:tableStyleId>
              </a:tblPr>
              <a:tblGrid>
                <a:gridCol w="4773168">
                  <a:extLst>
                    <a:ext uri="{9D8B030D-6E8A-4147-A177-3AD203B41FA5}">
                      <a16:colId xmlns:a16="http://schemas.microsoft.com/office/drawing/2014/main" val="3781480973"/>
                    </a:ext>
                  </a:extLst>
                </a:gridCol>
                <a:gridCol w="6797040">
                  <a:extLst>
                    <a:ext uri="{9D8B030D-6E8A-4147-A177-3AD203B41FA5}">
                      <a16:colId xmlns:a16="http://schemas.microsoft.com/office/drawing/2014/main" val="1675518334"/>
                    </a:ext>
                  </a:extLst>
                </a:gridCol>
                <a:gridCol w="5785104">
                  <a:extLst>
                    <a:ext uri="{9D8B030D-6E8A-4147-A177-3AD203B41FA5}">
                      <a16:colId xmlns:a16="http://schemas.microsoft.com/office/drawing/2014/main" val="1295750379"/>
                    </a:ext>
                  </a:extLst>
                </a:gridCol>
              </a:tblGrid>
              <a:tr h="112139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Security Measure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Description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Benefit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897539"/>
                  </a:ext>
                </a:extLst>
              </a:tr>
              <a:tr h="112139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Multi-Factor Authentication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800" dirty="0"/>
                        <a:t>Enable MFA for remote access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Prevent credential-based attacks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755766"/>
                  </a:ext>
                </a:extLst>
              </a:tr>
              <a:tr h="112139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Network Segmentation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800" dirty="0"/>
                        <a:t>Separate operational and corporate networks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Limit attacker movement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0535959"/>
                  </a:ext>
                </a:extLst>
              </a:tr>
              <a:tr h="112139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Continuous 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Real-time threat monitoring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Early threat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2115845"/>
                  </a:ext>
                </a:extLst>
              </a:tr>
              <a:tr h="112139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Security Audits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Regular vulnerability assessments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Identify weaknesses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5980398"/>
                  </a:ext>
                </a:extLst>
              </a:tr>
              <a:tr h="112139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Incident Response Plan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Prepared response procedures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Faster containment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148906"/>
                  </a:ext>
                </a:extLst>
              </a:tr>
              <a:tr h="112139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Threat Intelligence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Use CTI platforms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800" dirty="0"/>
                        <a:t>Proactive threat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196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2615268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4C0B0B-CB14-53FA-BD15-374648914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5">
            <a:extLst>
              <a:ext uri="{FF2B5EF4-FFF2-40B4-BE49-F238E27FC236}">
                <a16:creationId xmlns:a16="http://schemas.microsoft.com/office/drawing/2014/main" id="{0E1A8675-51B8-2F55-C30C-D025CAC09C14}"/>
              </a:ext>
            </a:extLst>
          </p:cNvPr>
          <p:cNvSpPr txBox="1"/>
          <p:nvPr/>
        </p:nvSpPr>
        <p:spPr>
          <a:xfrm>
            <a:off x="965454" y="3649226"/>
            <a:ext cx="7245858" cy="22570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D8DEE9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rPr lang="en-US" dirty="0"/>
              <a:t>Adaptability of Methodology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75189067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4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F7D56B-0963-58C4-B917-535785FD4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2">
            <a:extLst>
              <a:ext uri="{FF2B5EF4-FFF2-40B4-BE49-F238E27FC236}">
                <a16:creationId xmlns:a16="http://schemas.microsoft.com/office/drawing/2014/main" id="{599E25BD-1F01-C327-67BF-578AAF2384D8}"/>
              </a:ext>
            </a:extLst>
          </p:cNvPr>
          <p:cNvSpPr txBox="1"/>
          <p:nvPr/>
        </p:nvSpPr>
        <p:spPr>
          <a:xfrm>
            <a:off x="710994" y="1556950"/>
            <a:ext cx="15821025" cy="1127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D8DEE9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rPr lang="en-US" dirty="0"/>
              <a:t>Adaptability</a:t>
            </a:r>
            <a:endParaRPr dirty="0"/>
          </a:p>
        </p:txBody>
      </p:sp>
      <p:grpSp>
        <p:nvGrpSpPr>
          <p:cNvPr id="119" name="Group 3">
            <a:extLst>
              <a:ext uri="{FF2B5EF4-FFF2-40B4-BE49-F238E27FC236}">
                <a16:creationId xmlns:a16="http://schemas.microsoft.com/office/drawing/2014/main" id="{D03D0146-94B7-652C-B241-73CBF552D2E6}"/>
              </a:ext>
            </a:extLst>
          </p:cNvPr>
          <p:cNvGrpSpPr/>
          <p:nvPr/>
        </p:nvGrpSpPr>
        <p:grpSpPr>
          <a:xfrm>
            <a:off x="710994" y="4077664"/>
            <a:ext cx="4314825" cy="2749768"/>
            <a:chOff x="0" y="0"/>
            <a:chExt cx="4314825" cy="2749767"/>
          </a:xfrm>
        </p:grpSpPr>
        <p:sp>
          <p:nvSpPr>
            <p:cNvPr id="117" name="TextBox 4">
              <a:extLst>
                <a:ext uri="{FF2B5EF4-FFF2-40B4-BE49-F238E27FC236}">
                  <a16:creationId xmlns:a16="http://schemas.microsoft.com/office/drawing/2014/main" id="{E1BB53D2-7A48-920E-9784-98BED8FB5F0C}"/>
                </a:ext>
              </a:extLst>
            </p:cNvPr>
            <p:cNvSpPr txBox="1"/>
            <p:nvPr/>
          </p:nvSpPr>
          <p:spPr>
            <a:xfrm>
              <a:off x="0" y="895350"/>
              <a:ext cx="4314825" cy="18544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900"/>
                </a:lnSpc>
                <a:defRPr sz="2000">
                  <a:solidFill>
                    <a:srgbClr val="D8DEE9"/>
                  </a:solidFill>
                  <a:latin typeface="DM Sans"/>
                  <a:ea typeface="DM Sans"/>
                  <a:cs typeface="DM Sans"/>
                  <a:sym typeface="DM Sans"/>
                </a:defRPr>
              </a:lvl1pPr>
            </a:lstStyle>
            <a:p>
              <a:r>
                <a:rPr lang="en-US" sz="2400" dirty="0"/>
                <a:t>Other cyber incidents: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/>
                <a:t>Ransomware attacks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/>
                <a:t>Supply chain attacks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/>
                <a:t>Critical infrastructure attacks</a:t>
              </a:r>
              <a:endParaRPr sz="2400" dirty="0"/>
            </a:p>
          </p:txBody>
        </p:sp>
        <p:sp>
          <p:nvSpPr>
            <p:cNvPr id="118" name="TextBox 5">
              <a:extLst>
                <a:ext uri="{FF2B5EF4-FFF2-40B4-BE49-F238E27FC236}">
                  <a16:creationId xmlns:a16="http://schemas.microsoft.com/office/drawing/2014/main" id="{5B5FC8A4-6769-F3BB-4921-47A2D402E9C7}"/>
                </a:ext>
              </a:extLst>
            </p:cNvPr>
            <p:cNvSpPr txBox="1"/>
            <p:nvPr/>
          </p:nvSpPr>
          <p:spPr>
            <a:xfrm>
              <a:off x="0" y="0"/>
              <a:ext cx="4314825" cy="448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3600"/>
                </a:lnSpc>
                <a:defRPr sz="2600" b="1">
                  <a:solidFill>
                    <a:srgbClr val="D8DEE9"/>
                  </a:solidFill>
                  <a:latin typeface="DM Sans Bold"/>
                  <a:ea typeface="DM Sans Bold"/>
                  <a:cs typeface="DM Sans Bold"/>
                  <a:sym typeface="DM Sans Bold"/>
                </a:defRPr>
              </a:lvl1pPr>
            </a:lstStyle>
            <a:p>
              <a:r>
                <a:rPr lang="en-US" sz="2800" dirty="0"/>
                <a:t>Where it can be used</a:t>
              </a:r>
              <a:endParaRPr sz="2800" dirty="0"/>
            </a:p>
          </p:txBody>
        </p:sp>
      </p:grpSp>
      <p:grpSp>
        <p:nvGrpSpPr>
          <p:cNvPr id="122" name="Group 6">
            <a:extLst>
              <a:ext uri="{FF2B5EF4-FFF2-40B4-BE49-F238E27FC236}">
                <a16:creationId xmlns:a16="http://schemas.microsoft.com/office/drawing/2014/main" id="{63621DDB-8BA0-B967-CDE6-0F63D4EB7A8B}"/>
              </a:ext>
            </a:extLst>
          </p:cNvPr>
          <p:cNvGrpSpPr/>
          <p:nvPr/>
        </p:nvGrpSpPr>
        <p:grpSpPr>
          <a:xfrm>
            <a:off x="6464094" y="4077664"/>
            <a:ext cx="4314825" cy="2845079"/>
            <a:chOff x="0" y="0"/>
            <a:chExt cx="4314825" cy="2571352"/>
          </a:xfrm>
        </p:grpSpPr>
        <p:sp>
          <p:nvSpPr>
            <p:cNvPr id="120" name="TextBox 7">
              <a:extLst>
                <a:ext uri="{FF2B5EF4-FFF2-40B4-BE49-F238E27FC236}">
                  <a16:creationId xmlns:a16="http://schemas.microsoft.com/office/drawing/2014/main" id="{28AE3AE6-3E44-11AC-1C8C-158142147790}"/>
                </a:ext>
              </a:extLst>
            </p:cNvPr>
            <p:cNvSpPr txBox="1"/>
            <p:nvPr/>
          </p:nvSpPr>
          <p:spPr>
            <a:xfrm>
              <a:off x="0" y="895349"/>
              <a:ext cx="4314825" cy="16760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900"/>
                </a:lnSpc>
                <a:defRPr sz="2000">
                  <a:solidFill>
                    <a:srgbClr val="D8DEE9"/>
                  </a:solidFill>
                  <a:latin typeface="DM Sans"/>
                  <a:ea typeface="DM Sans"/>
                  <a:cs typeface="DM Sans"/>
                  <a:sym typeface="DM Sans"/>
                </a:defRPr>
              </a:lvl1pPr>
            </a:lstStyle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/>
                <a:t>Framework-independent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/>
                <a:t>Scalable for small and large organizations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/>
                <a:t>Compatible with threat intelligence platforms</a:t>
              </a:r>
              <a:endParaRPr sz="2400" dirty="0"/>
            </a:p>
          </p:txBody>
        </p:sp>
        <p:sp>
          <p:nvSpPr>
            <p:cNvPr id="121" name="TextBox 8">
              <a:extLst>
                <a:ext uri="{FF2B5EF4-FFF2-40B4-BE49-F238E27FC236}">
                  <a16:creationId xmlns:a16="http://schemas.microsoft.com/office/drawing/2014/main" id="{681A2863-4207-E9DB-321B-AFE607ADA3B3}"/>
                </a:ext>
              </a:extLst>
            </p:cNvPr>
            <p:cNvSpPr txBox="1"/>
            <p:nvPr/>
          </p:nvSpPr>
          <p:spPr>
            <a:xfrm>
              <a:off x="0" y="0"/>
              <a:ext cx="4314825" cy="4056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3600"/>
                </a:lnSpc>
                <a:defRPr sz="2600" b="1">
                  <a:solidFill>
                    <a:srgbClr val="D8DEE9"/>
                  </a:solidFill>
                  <a:latin typeface="DM Sans Bold"/>
                  <a:ea typeface="DM Sans Bold"/>
                  <a:cs typeface="DM Sans Bold"/>
                  <a:sym typeface="DM Sans Bold"/>
                </a:defRPr>
              </a:lvl1pPr>
            </a:lstStyle>
            <a:p>
              <a:r>
                <a:rPr lang="en-US" sz="2800" dirty="0"/>
                <a:t>Advantages</a:t>
              </a:r>
              <a:endParaRPr sz="2800" dirty="0"/>
            </a:p>
          </p:txBody>
        </p:sp>
      </p:grpSp>
      <p:grpSp>
        <p:nvGrpSpPr>
          <p:cNvPr id="125" name="Group 9">
            <a:extLst>
              <a:ext uri="{FF2B5EF4-FFF2-40B4-BE49-F238E27FC236}">
                <a16:creationId xmlns:a16="http://schemas.microsoft.com/office/drawing/2014/main" id="{46496CA4-E8E6-6353-CEC4-BEAE72E18D99}"/>
              </a:ext>
            </a:extLst>
          </p:cNvPr>
          <p:cNvGrpSpPr/>
          <p:nvPr/>
        </p:nvGrpSpPr>
        <p:grpSpPr>
          <a:xfrm>
            <a:off x="12217194" y="4077664"/>
            <a:ext cx="4314825" cy="2749767"/>
            <a:chOff x="0" y="0"/>
            <a:chExt cx="4314825" cy="2749765"/>
          </a:xfrm>
        </p:grpSpPr>
        <p:sp>
          <p:nvSpPr>
            <p:cNvPr id="123" name="TextBox 10">
              <a:extLst>
                <a:ext uri="{FF2B5EF4-FFF2-40B4-BE49-F238E27FC236}">
                  <a16:creationId xmlns:a16="http://schemas.microsoft.com/office/drawing/2014/main" id="{07D5DA46-2EEF-C1A1-A4A3-6D8669E4A922}"/>
                </a:ext>
              </a:extLst>
            </p:cNvPr>
            <p:cNvSpPr txBox="1"/>
            <p:nvPr/>
          </p:nvSpPr>
          <p:spPr>
            <a:xfrm>
              <a:off x="0" y="895349"/>
              <a:ext cx="4314825" cy="18544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900"/>
                </a:lnSpc>
                <a:defRPr sz="2000">
                  <a:solidFill>
                    <a:srgbClr val="D8DEE9"/>
                  </a:solidFill>
                  <a:latin typeface="DM Sans"/>
                  <a:ea typeface="DM Sans"/>
                  <a:cs typeface="DM Sans"/>
                  <a:sym typeface="DM Sans"/>
                </a:defRPr>
              </a:lvl1pPr>
            </a:lstStyle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/>
                <a:t>Security operations centers (SOC)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/>
                <a:t>Incident response teams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/>
                <a:t>Government cyber defense agencies</a:t>
              </a:r>
              <a:endParaRPr sz="2400" dirty="0"/>
            </a:p>
          </p:txBody>
        </p:sp>
        <p:sp>
          <p:nvSpPr>
            <p:cNvPr id="124" name="TextBox 11">
              <a:extLst>
                <a:ext uri="{FF2B5EF4-FFF2-40B4-BE49-F238E27FC236}">
                  <a16:creationId xmlns:a16="http://schemas.microsoft.com/office/drawing/2014/main" id="{14F30E7B-9E50-E69B-D3B8-F07AB04912F8}"/>
                </a:ext>
              </a:extLst>
            </p:cNvPr>
            <p:cNvSpPr txBox="1"/>
            <p:nvPr/>
          </p:nvSpPr>
          <p:spPr>
            <a:xfrm>
              <a:off x="0" y="0"/>
              <a:ext cx="4314825" cy="448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3600"/>
                </a:lnSpc>
                <a:defRPr sz="2600" b="1">
                  <a:solidFill>
                    <a:srgbClr val="D8DEE9"/>
                  </a:solidFill>
                  <a:latin typeface="DM Sans Bold"/>
                  <a:ea typeface="DM Sans Bold"/>
                  <a:cs typeface="DM Sans Bold"/>
                  <a:sym typeface="DM Sans Bold"/>
                </a:defRPr>
              </a:lvl1pPr>
            </a:lstStyle>
            <a:p>
              <a:r>
                <a:rPr lang="en-US" sz="2800" dirty="0"/>
                <a:t>Applications</a:t>
              </a:r>
              <a:endParaRPr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33608018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92EA30-516E-96D7-5DED-DBB81C04D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5">
            <a:extLst>
              <a:ext uri="{FF2B5EF4-FFF2-40B4-BE49-F238E27FC236}">
                <a16:creationId xmlns:a16="http://schemas.microsoft.com/office/drawing/2014/main" id="{AC871B4F-0D49-4D1C-4C04-06794885C57A}"/>
              </a:ext>
            </a:extLst>
          </p:cNvPr>
          <p:cNvSpPr txBox="1"/>
          <p:nvPr/>
        </p:nvSpPr>
        <p:spPr>
          <a:xfrm>
            <a:off x="1371854" y="3573026"/>
            <a:ext cx="8178546" cy="22570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D8DEE9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rPr lang="en-US" dirty="0"/>
              <a:t>Methodology Evaluation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14586225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4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2DA17F-3871-36FA-3D86-783B5FE72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2">
            <a:extLst>
              <a:ext uri="{FF2B5EF4-FFF2-40B4-BE49-F238E27FC236}">
                <a16:creationId xmlns:a16="http://schemas.microsoft.com/office/drawing/2014/main" id="{5D9C7094-F30C-AFD4-22EE-6AD061B2A62B}"/>
              </a:ext>
            </a:extLst>
          </p:cNvPr>
          <p:cNvSpPr txBox="1"/>
          <p:nvPr/>
        </p:nvSpPr>
        <p:spPr>
          <a:xfrm>
            <a:off x="279173" y="733425"/>
            <a:ext cx="17961514" cy="1127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D8DEE9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rPr lang="en-US" dirty="0"/>
              <a:t>Methodology Evaluation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43B40EC-80C0-D97C-FA57-E958A499D5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7820199"/>
              </p:ext>
            </p:extLst>
          </p:nvPr>
        </p:nvGraphicFramePr>
        <p:xfrm>
          <a:off x="603504" y="2158491"/>
          <a:ext cx="16952976" cy="7395084"/>
        </p:xfrm>
        <a:graphic>
          <a:graphicData uri="http://schemas.openxmlformats.org/drawingml/2006/table">
            <a:tbl>
              <a:tblPr firstRow="1" bandRow="1">
                <a:tableStyleId>{33BA23B1-9221-436E-865A-0063620EA4FD}</a:tableStyleId>
              </a:tblPr>
              <a:tblGrid>
                <a:gridCol w="5230368">
                  <a:extLst>
                    <a:ext uri="{9D8B030D-6E8A-4147-A177-3AD203B41FA5}">
                      <a16:colId xmlns:a16="http://schemas.microsoft.com/office/drawing/2014/main" val="274422384"/>
                    </a:ext>
                  </a:extLst>
                </a:gridCol>
                <a:gridCol w="11722608">
                  <a:extLst>
                    <a:ext uri="{9D8B030D-6E8A-4147-A177-3AD203B41FA5}">
                      <a16:colId xmlns:a16="http://schemas.microsoft.com/office/drawing/2014/main" val="1664161198"/>
                    </a:ext>
                  </a:extLst>
                </a:gridCol>
              </a:tblGrid>
              <a:tr h="12325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600" dirty="0"/>
                        <a:t>Evaluation Parameter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600" dirty="0"/>
                        <a:t>Assessment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968342"/>
                  </a:ext>
                </a:extLst>
              </a:tr>
              <a:tr h="12325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600" dirty="0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600" dirty="0"/>
                        <a:t>Reconstructs the attack sequence accurately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2411053"/>
                  </a:ext>
                </a:extLst>
              </a:tr>
              <a:tr h="12325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600" dirty="0"/>
                        <a:t>Reliability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600" dirty="0"/>
                        <a:t>Based on verified cybersecurity intelligence sources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4032664"/>
                  </a:ext>
                </a:extLst>
              </a:tr>
              <a:tr h="12325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600" dirty="0"/>
                        <a:t>Practicality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600" dirty="0"/>
                        <a:t>Applicable for analyzing ransomware incidents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0022954"/>
                  </a:ext>
                </a:extLst>
              </a:tr>
              <a:tr h="12325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600" dirty="0"/>
                        <a:t>Scalability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600" dirty="0"/>
                        <a:t>Can be applied to multiple cyber incidents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7977296"/>
                  </a:ext>
                </a:extLst>
              </a:tr>
              <a:tr h="12325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600" dirty="0"/>
                        <a:t>Intelligence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600" dirty="0"/>
                        <a:t>Provides actionable cybersecurity insights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50279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3115421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5848E7-1A27-FF9A-0A4E-2C559DD67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5">
            <a:extLst>
              <a:ext uri="{FF2B5EF4-FFF2-40B4-BE49-F238E27FC236}">
                <a16:creationId xmlns:a16="http://schemas.microsoft.com/office/drawing/2014/main" id="{6F5F7BE9-0B51-FA3E-8423-A123C00D2801}"/>
              </a:ext>
            </a:extLst>
          </p:cNvPr>
          <p:cNvSpPr txBox="1"/>
          <p:nvPr/>
        </p:nvSpPr>
        <p:spPr>
          <a:xfrm>
            <a:off x="1386078" y="3667514"/>
            <a:ext cx="8324850" cy="22570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D8DEE9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rPr lang="en-US" dirty="0"/>
              <a:t>Dissemination &amp; Accessibility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32228597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4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37256A-39CF-4A3C-CE43-5A31793C8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2">
            <a:extLst>
              <a:ext uri="{FF2B5EF4-FFF2-40B4-BE49-F238E27FC236}">
                <a16:creationId xmlns:a16="http://schemas.microsoft.com/office/drawing/2014/main" id="{B397D9C7-D817-AF71-A4BE-8B598356AC11}"/>
              </a:ext>
            </a:extLst>
          </p:cNvPr>
          <p:cNvSpPr txBox="1"/>
          <p:nvPr/>
        </p:nvSpPr>
        <p:spPr>
          <a:xfrm>
            <a:off x="710994" y="1125150"/>
            <a:ext cx="15821025" cy="1127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D8DEE9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rPr lang="en-US" dirty="0"/>
              <a:t>Dissemination &amp; Accessibility</a:t>
            </a:r>
            <a:endParaRPr dirty="0"/>
          </a:p>
        </p:txBody>
      </p:sp>
      <p:grpSp>
        <p:nvGrpSpPr>
          <p:cNvPr id="119" name="Group 3">
            <a:extLst>
              <a:ext uri="{FF2B5EF4-FFF2-40B4-BE49-F238E27FC236}">
                <a16:creationId xmlns:a16="http://schemas.microsoft.com/office/drawing/2014/main" id="{AE0AE9C0-BCB5-E6B5-456E-52A515E89A4C}"/>
              </a:ext>
            </a:extLst>
          </p:cNvPr>
          <p:cNvGrpSpPr/>
          <p:nvPr/>
        </p:nvGrpSpPr>
        <p:grpSpPr>
          <a:xfrm>
            <a:off x="710994" y="2689863"/>
            <a:ext cx="4314825" cy="6278742"/>
            <a:chOff x="0" y="-448001"/>
            <a:chExt cx="4314825" cy="6278739"/>
          </a:xfrm>
        </p:grpSpPr>
        <p:sp>
          <p:nvSpPr>
            <p:cNvPr id="117" name="TextBox 4">
              <a:extLst>
                <a:ext uri="{FF2B5EF4-FFF2-40B4-BE49-F238E27FC236}">
                  <a16:creationId xmlns:a16="http://schemas.microsoft.com/office/drawing/2014/main" id="{74A83816-16BE-0F9E-C1BC-24F12D79418A}"/>
                </a:ext>
              </a:extLst>
            </p:cNvPr>
            <p:cNvSpPr txBox="1"/>
            <p:nvPr/>
          </p:nvSpPr>
          <p:spPr>
            <a:xfrm>
              <a:off x="0" y="895350"/>
              <a:ext cx="4314825" cy="49353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900"/>
                </a:lnSpc>
                <a:defRPr sz="2000">
                  <a:solidFill>
                    <a:srgbClr val="D8DEE9"/>
                  </a:solidFill>
                  <a:latin typeface="DM Sans"/>
                  <a:ea typeface="DM Sans"/>
                  <a:cs typeface="DM Sans"/>
                  <a:sym typeface="DM Sans"/>
                </a:defRPr>
              </a:lvl1pPr>
            </a:lstStyle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  <a:defRPr sz="2000">
                  <a:solidFill>
                    <a:srgbClr val="D8DEE9"/>
                  </a:solidFill>
                  <a:latin typeface="DM Sans"/>
                  <a:ea typeface="DM Sans"/>
                  <a:cs typeface="DM Sans"/>
                  <a:sym typeface="DM Sans"/>
                </a:defRPr>
              </a:pPr>
              <a:r>
                <a:rPr lang="en-US" sz="2400" dirty="0"/>
                <a:t>Security analysis reports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  <a:defRPr sz="2000">
                  <a:solidFill>
                    <a:srgbClr val="D8DEE9"/>
                  </a:solidFill>
                  <a:latin typeface="DM Sans"/>
                  <a:ea typeface="DM Sans"/>
                  <a:cs typeface="DM Sans"/>
                  <a:sym typeface="DM Sans"/>
                </a:defRPr>
              </a:pPr>
              <a:r>
                <a:rPr lang="en-US" sz="2400" dirty="0"/>
                <a:t>Cyber threat intelligence platforms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  <a:defRPr sz="2000">
                  <a:solidFill>
                    <a:srgbClr val="D8DEE9"/>
                  </a:solidFill>
                  <a:latin typeface="DM Sans"/>
                  <a:ea typeface="DM Sans"/>
                  <a:cs typeface="DM Sans"/>
                  <a:sym typeface="DM Sans"/>
                </a:defRPr>
              </a:pPr>
              <a:r>
                <a:rPr lang="en-US" sz="2400" dirty="0"/>
                <a:t>Security operations centers (SOC)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  <a:defRPr sz="2000">
                  <a:solidFill>
                    <a:srgbClr val="D8DEE9"/>
                  </a:solidFill>
                  <a:latin typeface="DM Sans"/>
                  <a:ea typeface="DM Sans"/>
                  <a:cs typeface="DM Sans"/>
                  <a:sym typeface="DM Sans"/>
                </a:defRPr>
              </a:pPr>
              <a:r>
                <a:rPr lang="en-US" sz="2400" dirty="0"/>
                <a:t>Academic research publications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  <a:defRPr sz="2000">
                  <a:solidFill>
                    <a:srgbClr val="D8DEE9"/>
                  </a:solidFill>
                  <a:latin typeface="DM Sans"/>
                  <a:ea typeface="DM Sans"/>
                  <a:cs typeface="DM Sans"/>
                  <a:sym typeface="DM Sans"/>
                </a:defRPr>
              </a:pPr>
              <a:r>
                <a:rPr lang="en-US" sz="2400" dirty="0"/>
                <a:t>Cybersecurity awareness programs</a:t>
              </a:r>
            </a:p>
          </p:txBody>
        </p:sp>
        <p:sp>
          <p:nvSpPr>
            <p:cNvPr id="118" name="TextBox 5">
              <a:extLst>
                <a:ext uri="{FF2B5EF4-FFF2-40B4-BE49-F238E27FC236}">
                  <a16:creationId xmlns:a16="http://schemas.microsoft.com/office/drawing/2014/main" id="{644350FB-22A4-78AA-28E4-E8B3F8674400}"/>
                </a:ext>
              </a:extLst>
            </p:cNvPr>
            <p:cNvSpPr txBox="1"/>
            <p:nvPr/>
          </p:nvSpPr>
          <p:spPr>
            <a:xfrm>
              <a:off x="0" y="-448001"/>
              <a:ext cx="4314825" cy="9105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3600"/>
                </a:lnSpc>
                <a:defRPr sz="2600" b="1">
                  <a:solidFill>
                    <a:srgbClr val="D8DEE9"/>
                  </a:solidFill>
                  <a:latin typeface="DM Sans Bold"/>
                  <a:ea typeface="DM Sans Bold"/>
                  <a:cs typeface="DM Sans Bold"/>
                  <a:sym typeface="DM Sans Bold"/>
                </a:defRPr>
              </a:lvl1pPr>
            </a:lstStyle>
            <a:p>
              <a:r>
                <a:rPr lang="en-US" sz="2800" dirty="0"/>
                <a:t>Intelligence can be shared through:</a:t>
              </a:r>
            </a:p>
          </p:txBody>
        </p:sp>
      </p:grpSp>
      <p:grpSp>
        <p:nvGrpSpPr>
          <p:cNvPr id="122" name="Group 6">
            <a:extLst>
              <a:ext uri="{FF2B5EF4-FFF2-40B4-BE49-F238E27FC236}">
                <a16:creationId xmlns:a16="http://schemas.microsoft.com/office/drawing/2014/main" id="{47D6A9AA-09A1-AFAF-5F52-D5E7D2963660}"/>
              </a:ext>
            </a:extLst>
          </p:cNvPr>
          <p:cNvGrpSpPr/>
          <p:nvPr/>
        </p:nvGrpSpPr>
        <p:grpSpPr>
          <a:xfrm>
            <a:off x="6464093" y="2712288"/>
            <a:ext cx="4314825" cy="4594324"/>
            <a:chOff x="-1" y="-384631"/>
            <a:chExt cx="4314825" cy="4152300"/>
          </a:xfrm>
        </p:grpSpPr>
        <p:sp>
          <p:nvSpPr>
            <p:cNvPr id="120" name="TextBox 7">
              <a:extLst>
                <a:ext uri="{FF2B5EF4-FFF2-40B4-BE49-F238E27FC236}">
                  <a16:creationId xmlns:a16="http://schemas.microsoft.com/office/drawing/2014/main" id="{67D67D3E-21F5-00B9-3BAF-1EDB6E35DF30}"/>
                </a:ext>
              </a:extLst>
            </p:cNvPr>
            <p:cNvSpPr txBox="1"/>
            <p:nvPr/>
          </p:nvSpPr>
          <p:spPr>
            <a:xfrm>
              <a:off x="-1" y="809208"/>
              <a:ext cx="4314825" cy="29584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900"/>
                </a:lnSpc>
                <a:defRPr sz="2000">
                  <a:solidFill>
                    <a:srgbClr val="D8DEE9"/>
                  </a:solidFill>
                  <a:latin typeface="DM Sans"/>
                  <a:ea typeface="DM Sans"/>
                  <a:cs typeface="DM Sans"/>
                  <a:sym typeface="DM Sans"/>
                </a:defRPr>
              </a:lvl1pPr>
            </a:lstStyle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  <a:defRPr sz="2000">
                  <a:solidFill>
                    <a:srgbClr val="D8DEE9"/>
                  </a:solidFill>
                  <a:latin typeface="DM Sans"/>
                  <a:ea typeface="DM Sans"/>
                  <a:cs typeface="DM Sans"/>
                  <a:sym typeface="DM Sans"/>
                </a:defRPr>
              </a:pPr>
              <a:r>
                <a:rPr lang="en-US" sz="2400" dirty="0"/>
                <a:t>Improved cyber defense strategies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  <a:defRPr sz="2000">
                  <a:solidFill>
                    <a:srgbClr val="D8DEE9"/>
                  </a:solidFill>
                  <a:latin typeface="DM Sans"/>
                  <a:ea typeface="DM Sans"/>
                  <a:cs typeface="DM Sans"/>
                  <a:sym typeface="DM Sans"/>
                </a:defRPr>
              </a:pPr>
              <a:r>
                <a:rPr lang="en-US" sz="2400" dirty="0"/>
                <a:t>Better understanding of ransomware threats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  <a:defRPr sz="2000">
                  <a:solidFill>
                    <a:srgbClr val="D8DEE9"/>
                  </a:solidFill>
                  <a:latin typeface="DM Sans"/>
                  <a:ea typeface="DM Sans"/>
                  <a:cs typeface="DM Sans"/>
                  <a:sym typeface="DM Sans"/>
                </a:defRPr>
              </a:pPr>
              <a:r>
                <a:rPr lang="en-US" sz="2400" dirty="0"/>
                <a:t>Increased collaboration among cybersecurity teams</a:t>
              </a:r>
            </a:p>
          </p:txBody>
        </p:sp>
        <p:sp>
          <p:nvSpPr>
            <p:cNvPr id="121" name="TextBox 8">
              <a:extLst>
                <a:ext uri="{FF2B5EF4-FFF2-40B4-BE49-F238E27FC236}">
                  <a16:creationId xmlns:a16="http://schemas.microsoft.com/office/drawing/2014/main" id="{16EFA1E4-0AF6-3B9B-EAE8-1155F0F396C8}"/>
                </a:ext>
              </a:extLst>
            </p:cNvPr>
            <p:cNvSpPr txBox="1"/>
            <p:nvPr/>
          </p:nvSpPr>
          <p:spPr>
            <a:xfrm>
              <a:off x="-1" y="-384631"/>
              <a:ext cx="4314825" cy="4056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3600"/>
                </a:lnSpc>
                <a:defRPr sz="2600" b="1">
                  <a:solidFill>
                    <a:srgbClr val="D8DEE9"/>
                  </a:solidFill>
                  <a:latin typeface="DM Sans Bold"/>
                  <a:ea typeface="DM Sans Bold"/>
                  <a:cs typeface="DM Sans Bold"/>
                  <a:sym typeface="DM Sans Bold"/>
                </a:defRPr>
              </a:lvl1pPr>
            </a:lstStyle>
            <a:p>
              <a:r>
                <a:rPr lang="en-US" sz="2800" dirty="0"/>
                <a:t>Advantages</a:t>
              </a:r>
              <a:endParaRPr sz="2800" dirty="0"/>
            </a:p>
          </p:txBody>
        </p:sp>
      </p:grpSp>
      <p:grpSp>
        <p:nvGrpSpPr>
          <p:cNvPr id="125" name="Group 9">
            <a:extLst>
              <a:ext uri="{FF2B5EF4-FFF2-40B4-BE49-F238E27FC236}">
                <a16:creationId xmlns:a16="http://schemas.microsoft.com/office/drawing/2014/main" id="{0E406B6C-B727-2E5F-AFE3-7FC3690C1490}"/>
              </a:ext>
            </a:extLst>
          </p:cNvPr>
          <p:cNvGrpSpPr/>
          <p:nvPr/>
        </p:nvGrpSpPr>
        <p:grpSpPr>
          <a:xfrm>
            <a:off x="12217192" y="2736348"/>
            <a:ext cx="4314827" cy="3462268"/>
            <a:chOff x="-2" y="-401516"/>
            <a:chExt cx="4314827" cy="3462265"/>
          </a:xfrm>
        </p:grpSpPr>
        <p:sp>
          <p:nvSpPr>
            <p:cNvPr id="123" name="TextBox 10">
              <a:extLst>
                <a:ext uri="{FF2B5EF4-FFF2-40B4-BE49-F238E27FC236}">
                  <a16:creationId xmlns:a16="http://schemas.microsoft.com/office/drawing/2014/main" id="{8EC5E5BC-C6B0-C46D-A059-1A15672F5860}"/>
                </a:ext>
              </a:extLst>
            </p:cNvPr>
            <p:cNvSpPr txBox="1"/>
            <p:nvPr/>
          </p:nvSpPr>
          <p:spPr>
            <a:xfrm>
              <a:off x="-2" y="895350"/>
              <a:ext cx="4314825" cy="2165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900"/>
                </a:lnSpc>
                <a:defRPr sz="2000">
                  <a:solidFill>
                    <a:srgbClr val="D8DEE9"/>
                  </a:solidFill>
                  <a:latin typeface="DM Sans"/>
                  <a:ea typeface="DM Sans"/>
                  <a:cs typeface="DM Sans"/>
                  <a:sym typeface="DM Sans"/>
                </a:defRPr>
              </a:lvl1pPr>
            </a:lstStyle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SIEM platforms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Threat intelligence platforms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Security advisories</a:t>
              </a:r>
              <a:endParaRPr sz="2400" dirty="0"/>
            </a:p>
          </p:txBody>
        </p:sp>
        <p:sp>
          <p:nvSpPr>
            <p:cNvPr id="124" name="TextBox 11">
              <a:extLst>
                <a:ext uri="{FF2B5EF4-FFF2-40B4-BE49-F238E27FC236}">
                  <a16:creationId xmlns:a16="http://schemas.microsoft.com/office/drawing/2014/main" id="{0D806079-5456-A924-6830-E667B4AAB1AB}"/>
                </a:ext>
              </a:extLst>
            </p:cNvPr>
            <p:cNvSpPr txBox="1"/>
            <p:nvPr/>
          </p:nvSpPr>
          <p:spPr>
            <a:xfrm>
              <a:off x="0" y="-401516"/>
              <a:ext cx="4314825" cy="448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3600"/>
                </a:lnSpc>
                <a:defRPr sz="2600" b="1">
                  <a:solidFill>
                    <a:srgbClr val="D8DEE9"/>
                  </a:solidFill>
                  <a:latin typeface="DM Sans Bold"/>
                  <a:ea typeface="DM Sans Bold"/>
                  <a:cs typeface="DM Sans Bold"/>
                  <a:sym typeface="DM Sans Bold"/>
                </a:defRPr>
              </a:lvl1pPr>
            </a:lstStyle>
            <a:p>
              <a:r>
                <a:rPr lang="en-US" sz="2800" dirty="0"/>
                <a:t>Tools</a:t>
              </a:r>
              <a:endParaRPr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53491171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45A6C-2E2A-E72D-D02C-B7F24969E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5">
            <a:extLst>
              <a:ext uri="{FF2B5EF4-FFF2-40B4-BE49-F238E27FC236}">
                <a16:creationId xmlns:a16="http://schemas.microsoft.com/office/drawing/2014/main" id="{D1B85DF2-6501-4EBE-8261-D963C63DB209}"/>
              </a:ext>
            </a:extLst>
          </p:cNvPr>
          <p:cNvSpPr txBox="1"/>
          <p:nvPr/>
        </p:nvSpPr>
        <p:spPr>
          <a:xfrm>
            <a:off x="1284478" y="4014986"/>
            <a:ext cx="8324850" cy="11285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D8DEE9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rPr lang="en-US" dirty="0"/>
              <a:t>Conclusion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91072530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4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992E67-9336-9AB6-C1E3-017269A8E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5">
            <a:extLst>
              <a:ext uri="{FF2B5EF4-FFF2-40B4-BE49-F238E27FC236}">
                <a16:creationId xmlns:a16="http://schemas.microsoft.com/office/drawing/2014/main" id="{8A633476-A89A-8F21-75A0-E82F8DAAE450}"/>
              </a:ext>
            </a:extLst>
          </p:cNvPr>
          <p:cNvSpPr txBox="1"/>
          <p:nvPr/>
        </p:nvSpPr>
        <p:spPr>
          <a:xfrm>
            <a:off x="819150" y="4014986"/>
            <a:ext cx="8324850" cy="11285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D8DEE9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rPr lang="en-US" dirty="0"/>
              <a:t>Conclusion</a:t>
            </a:r>
            <a:endParaRPr dirty="0"/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40168E88-932B-5594-757E-86648CE82BA2}"/>
              </a:ext>
            </a:extLst>
          </p:cNvPr>
          <p:cNvSpPr txBox="1"/>
          <p:nvPr/>
        </p:nvSpPr>
        <p:spPr>
          <a:xfrm>
            <a:off x="9144000" y="1280560"/>
            <a:ext cx="8324850" cy="70506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The Colonial Pipeline ransomware attack demonstrated the serious risks posed by cyber threats to critical infrastructure.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Cyber threat intelligence methodologies help identify attacker tactics and improve defensive capabilities.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Integrating CTI lifecycle analysis with MITRE ATT&amp;CK mapping enables systematic attack investigation.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Organizations must strengthen cybersecurity controls to prevent similar attacks in the future.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40501380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1256</Words>
  <Application>Microsoft Office PowerPoint</Application>
  <PresentationFormat>Custom</PresentationFormat>
  <Paragraphs>286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Harini Sri Reddy</cp:lastModifiedBy>
  <cp:revision>27</cp:revision>
  <dcterms:modified xsi:type="dcterms:W3CDTF">2026-03-16T04:55:25Z</dcterms:modified>
</cp:coreProperties>
</file>