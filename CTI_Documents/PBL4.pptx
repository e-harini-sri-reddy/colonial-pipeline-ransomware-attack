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57" r:id="rId4"/>
    <p:sldId id="263" r:id="rId5"/>
    <p:sldId id="264" r:id="rId6"/>
    <p:sldId id="289" r:id="rId7"/>
    <p:sldId id="290" r:id="rId8"/>
    <p:sldId id="291" r:id="rId9"/>
    <p:sldId id="292" r:id="rId10"/>
    <p:sldId id="274" r:id="rId11"/>
    <p:sldId id="293" r:id="rId12"/>
    <p:sldId id="294" r:id="rId13"/>
    <p:sldId id="295" r:id="rId14"/>
    <p:sldId id="296" r:id="rId15"/>
    <p:sldId id="298" r:id="rId16"/>
    <p:sldId id="297" r:id="rId17"/>
    <p:sldId id="299" r:id="rId18"/>
    <p:sldId id="300" r:id="rId19"/>
    <p:sldId id="301" r:id="rId20"/>
    <p:sldId id="302" r:id="rId21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440"/>
    <a:srgbClr val="3B4252"/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20" autoAdjust="0"/>
  </p:normalViewPr>
  <p:slideViewPr>
    <p:cSldViewPr snapToGrid="0">
      <p:cViewPr varScale="1">
        <p:scale>
          <a:sx n="45" d="100"/>
          <a:sy n="45" d="100"/>
        </p:scale>
        <p:origin x="123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82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847F-4052-4738-C9E0-EAD77F28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B005D-D098-DB86-2E80-3B3327A36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AD0B5-5F5F-D485-1893-DFAB1BAB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895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54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4E21-285A-1A9F-EDDF-DFAD98B8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3D14A-93B5-AD89-9265-901C2EC45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A5270-450D-1508-102A-759952FD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4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012D-8351-5604-3A27-DDAC948A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E28EC-FC87-3DDE-D727-2DA586507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4C648-798A-2F9A-E5D3-A7B50ECFF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68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3DF5-76C0-E5E0-543F-0C3CB733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EB125-BEBD-0630-E390-50932B8E1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F3F88-A595-8233-D9ED-370D4685A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47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34739-0D70-0836-41D0-2D4DCA12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4D3E7-642F-6C1C-EA4D-4DA7B1CF6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DCAFB-6D88-4A2C-1264-8C2858D92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33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31D5-BE37-57A8-1956-B68EFEC6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4294F-2FF4-2B43-5A86-FD6FA225F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08881-8C8A-E54D-5912-ED9798A72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454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2114-EEDB-3906-3A34-36A7604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2855E-18F3-0157-E6B8-1DC67A6BF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AAFD5-E646-02A4-7327-ED2EF3E08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71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CA76-CDEC-DB4B-541A-19806FEF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CBA2D-11CD-1A82-D081-85E97D3CD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35B1D-93E8-06C6-7AD5-F431D798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43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5907-63B8-0A21-12DA-8E13FA03B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EC37B-21F9-10C0-BB2B-82CF21AC5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B1584-004B-50A7-160E-267878089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23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8B52-8166-3878-06E4-81B59CBE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7B41C-8BBE-B61C-3C13-FB49A95EC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0526E-2101-192A-DA58-B5C7BD99C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42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BB48-7B9A-C959-2C44-0A4D3E50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2283E-D5C4-D1AA-7B55-C7EF5B5B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D7850-5A67-EFEA-F057-EC30517FD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2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B22C-C06F-75DA-56FF-E7712288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59F28-38B4-B9C5-4FD6-D765BBD06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CF179-24AE-B67F-8C99-05828648F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55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924F-2115-BD65-8FFB-62FEEB7C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2645B-2884-20B2-978F-7FA01C7AB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C6BB4-1752-304D-5E46-B73CE7CBF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928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A677-6FC3-6CCF-CF72-0EDA8EFD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EDE00-BFE7-1895-41F3-3845A43C7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5082A-A1C9-F03C-8922-FCC31F533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76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0DF1-645F-FB96-16C0-E2BB1FC7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F2DEE-93DC-6C30-751B-48178E7AF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08EB2-CFE2-6E54-5FEB-43CC44F6E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36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DF30-7CFE-1026-90E1-0A14DEA9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A28E5-DC06-DC95-DB5C-71C701F57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5C735-7919-F12F-A652-07A4F3254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76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E7FD-1962-D308-273E-8D6A714E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B1AD3-040F-D3A3-51C0-7956EB599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E3ED2-7ECC-4A41-15B7-F84049539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390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DED8-7224-9A67-E203-E6E6BEB4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67435-66A1-C5FC-C44D-4DB27BB28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E9D0C-9225-CA23-BC13-857CCB9F3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0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-1" y="-1"/>
            <a:ext cx="8991601" cy="102870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grpSp>
        <p:nvGrpSpPr>
          <p:cNvPr id="97" name="Group 7"/>
          <p:cNvGrpSpPr/>
          <p:nvPr/>
        </p:nvGrpSpPr>
        <p:grpSpPr>
          <a:xfrm>
            <a:off x="10172700" y="544500"/>
            <a:ext cx="7275191" cy="5740159"/>
            <a:chOff x="0" y="0"/>
            <a:chExt cx="7275190" cy="5740157"/>
          </a:xfrm>
        </p:grpSpPr>
        <p:sp>
          <p:nvSpPr>
            <p:cNvPr id="95" name="TextBox 8"/>
            <p:cNvSpPr txBox="1"/>
            <p:nvPr/>
          </p:nvSpPr>
          <p:spPr>
            <a:xfrm>
              <a:off x="0" y="0"/>
              <a:ext cx="7275190" cy="4920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9100"/>
                </a:lnSpc>
                <a:defRPr sz="9100">
                  <a:solidFill>
                    <a:srgbClr val="DCE6F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r>
                <a:rPr dirty="0"/>
                <a:t>Colonial Pipeline Ransomware Incident </a:t>
              </a:r>
            </a:p>
          </p:txBody>
        </p:sp>
        <p:sp>
          <p:nvSpPr>
            <p:cNvPr id="96" name="TextBox 9"/>
            <p:cNvSpPr txBox="1"/>
            <p:nvPr/>
          </p:nvSpPr>
          <p:spPr>
            <a:xfrm>
              <a:off x="3735" y="4920273"/>
              <a:ext cx="7267718" cy="8198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lnSpc>
                  <a:spcPts val="5000"/>
                </a:lnSpc>
                <a:defRPr sz="35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rPr lang="en-US" dirty="0"/>
                <a:t>Cyber Threat Intelligence Analysis</a:t>
              </a:r>
              <a:endParaRPr dirty="0"/>
            </a:p>
          </p:txBody>
        </p:sp>
      </p:grpSp>
      <p:grpSp>
        <p:nvGrpSpPr>
          <p:cNvPr id="100" name="Group 10"/>
          <p:cNvGrpSpPr/>
          <p:nvPr/>
        </p:nvGrpSpPr>
        <p:grpSpPr>
          <a:xfrm>
            <a:off x="10139289" y="6609098"/>
            <a:ext cx="5743576" cy="2066284"/>
            <a:chOff x="0" y="0"/>
            <a:chExt cx="5743575" cy="2066283"/>
          </a:xfrm>
        </p:grpSpPr>
        <p:sp>
          <p:nvSpPr>
            <p:cNvPr id="98" name="TextBox 11"/>
            <p:cNvSpPr txBox="1"/>
            <p:nvPr/>
          </p:nvSpPr>
          <p:spPr>
            <a:xfrm>
              <a:off x="0" y="554227"/>
              <a:ext cx="5743575" cy="15120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3000"/>
                </a:lnSpc>
                <a:defRPr sz="2200">
                  <a:solidFill>
                    <a:srgbClr val="D8DEE9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2410030019-EADUNUR HARINI SRI REDDY</a:t>
              </a:r>
              <a:endParaRPr dirty="0">
                <a:solidFill>
                  <a:srgbClr val="DCE6F1"/>
                </a:solidFill>
              </a:endParaRP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2410030246-DEVARSHETTY PRAVALIKA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2410030298-V.TANUSRI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2410030060-MAHITHA VARMA</a:t>
              </a:r>
            </a:p>
          </p:txBody>
        </p:sp>
        <p:sp>
          <p:nvSpPr>
            <p:cNvPr id="99" name="TextBox 12"/>
            <p:cNvSpPr txBox="1"/>
            <p:nvPr/>
          </p:nvSpPr>
          <p:spPr>
            <a:xfrm>
              <a:off x="0" y="0"/>
              <a:ext cx="5743575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8DEE9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rPr dirty="0"/>
                <a:t>PRESENTED BY</a:t>
              </a: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6390-38DF-F541-F9DB-A79941C7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9827153D-1A7B-B557-4ECA-F52A7A0B074E}"/>
              </a:ext>
            </a:extLst>
          </p:cNvPr>
          <p:cNvSpPr txBox="1"/>
          <p:nvPr/>
        </p:nvSpPr>
        <p:spPr>
          <a:xfrm>
            <a:off x="1367790" y="4014986"/>
            <a:ext cx="8324850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Project Extension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36967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/>
          <p:cNvSpPr txBox="1"/>
          <p:nvPr/>
        </p:nvSpPr>
        <p:spPr>
          <a:xfrm>
            <a:off x="958161" y="1397915"/>
            <a:ext cx="7122583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What we did</a:t>
            </a:r>
            <a:endParaRPr dirty="0"/>
          </a:p>
        </p:txBody>
      </p:sp>
      <p:sp>
        <p:nvSpPr>
          <p:cNvPr id="2" name="TextBox 6"/>
          <p:cNvSpPr txBox="1"/>
          <p:nvPr/>
        </p:nvSpPr>
        <p:spPr>
          <a:xfrm>
            <a:off x="958161" y="4034883"/>
            <a:ext cx="7845597" cy="188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From Analysis -&gt; Implementation!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AI system for automated malware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Bridges CTI with real-time defense</a:t>
            </a:r>
            <a:endParaRPr sz="2800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96B838B9-5934-14B4-ED92-F35DD11002FC}"/>
              </a:ext>
            </a:extLst>
          </p:cNvPr>
          <p:cNvSpPr txBox="1"/>
          <p:nvPr/>
        </p:nvSpPr>
        <p:spPr>
          <a:xfrm>
            <a:off x="9909546" y="1144053"/>
            <a:ext cx="6716183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System Overview</a:t>
            </a:r>
            <a:endParaRPr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2A02536-F57C-B42C-C270-87EA86B17CB8}"/>
              </a:ext>
            </a:extLst>
          </p:cNvPr>
          <p:cNvSpPr txBox="1"/>
          <p:nvPr/>
        </p:nvSpPr>
        <p:spPr>
          <a:xfrm>
            <a:off x="10207256" y="4034883"/>
            <a:ext cx="7336465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Input: Memory Dump Data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Processing: Feature extraction and Scaling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Model: Deep Neural Network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Output: Threat Classification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C960C-4D7D-37C4-E5E6-DD78DB97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7E6766-1B55-C01F-5618-DB9D7C668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3954"/>
            <a:ext cx="10752667" cy="8659091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6D879278-D4EC-61C1-A3F3-D136C52BD68C}"/>
              </a:ext>
            </a:extLst>
          </p:cNvPr>
          <p:cNvSpPr txBox="1"/>
          <p:nvPr/>
        </p:nvSpPr>
        <p:spPr>
          <a:xfrm>
            <a:off x="11571818" y="2253287"/>
            <a:ext cx="6597650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Model Architecture</a:t>
            </a:r>
            <a:endParaRPr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452E2BE-A5D2-08CC-A415-C0675AA81A6B}"/>
              </a:ext>
            </a:extLst>
          </p:cNvPr>
          <p:cNvSpPr txBox="1"/>
          <p:nvPr/>
        </p:nvSpPr>
        <p:spPr>
          <a:xfrm>
            <a:off x="11571817" y="4931633"/>
            <a:ext cx="6597650" cy="188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Dense (256) → </a:t>
            </a:r>
            <a:r>
              <a:rPr lang="en-US" sz="2800" dirty="0" err="1"/>
              <a:t>BatchNorm</a:t>
            </a:r>
            <a:r>
              <a:rPr lang="en-US" sz="2800" dirty="0"/>
              <a:t> → Dropout</a:t>
            </a:r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Dense (128) → </a:t>
            </a:r>
            <a:r>
              <a:rPr lang="en-US" sz="2800" dirty="0" err="1"/>
              <a:t>Softmax</a:t>
            </a:r>
            <a:endParaRPr lang="en-US" sz="2800" dirty="0"/>
          </a:p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Loss: </a:t>
            </a:r>
            <a:r>
              <a:rPr lang="en-US" sz="2800" dirty="0" err="1"/>
              <a:t>Crossentropy</a:t>
            </a:r>
            <a:r>
              <a:rPr lang="en-US" sz="2800" dirty="0"/>
              <a:t> | Optimizer: Adam</a:t>
            </a:r>
          </a:p>
        </p:txBody>
      </p:sp>
    </p:spTree>
    <p:extLst>
      <p:ext uri="{BB962C8B-B14F-4D97-AF65-F5344CB8AC3E}">
        <p14:creationId xmlns:p14="http://schemas.microsoft.com/office/powerpoint/2010/main" val="3013586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04BC3-7489-D6D6-DCFC-2E419989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197A6006-FF76-CA80-2BEE-0C138639F671}"/>
              </a:ext>
            </a:extLst>
          </p:cNvPr>
          <p:cNvSpPr txBox="1"/>
          <p:nvPr/>
        </p:nvSpPr>
        <p:spPr>
          <a:xfrm>
            <a:off x="433638" y="1055218"/>
            <a:ext cx="17420723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Technical Competence</a:t>
            </a:r>
            <a:endParaRPr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F86C496-EC69-AC81-F68F-93AE08DDBD57}"/>
              </a:ext>
            </a:extLst>
          </p:cNvPr>
          <p:cNvSpPr txBox="1"/>
          <p:nvPr/>
        </p:nvSpPr>
        <p:spPr>
          <a:xfrm>
            <a:off x="1236985" y="3246918"/>
            <a:ext cx="6816654" cy="4465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TensorFlow/</a:t>
            </a:r>
            <a:r>
              <a:rPr lang="en-US" sz="2800" dirty="0" err="1"/>
              <a:t>Keras</a:t>
            </a:r>
            <a:r>
              <a:rPr lang="en-US" sz="2800" dirty="0"/>
              <a:t> </a:t>
            </a:r>
            <a:r>
              <a:rPr lang="en-US" sz="2800" dirty="0" err="1"/>
              <a:t>Model:Deep</a:t>
            </a:r>
            <a:r>
              <a:rPr lang="en-US" sz="2800" dirty="0"/>
              <a:t> Neural Network for multi-class malware detection with ~75–80% accuracy.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 err="1"/>
              <a:t>Streamlit</a:t>
            </a:r>
            <a:r>
              <a:rPr lang="en-US" sz="2800" dirty="0"/>
              <a:t> </a:t>
            </a:r>
            <a:r>
              <a:rPr lang="en-US" sz="2800" dirty="0" err="1"/>
              <a:t>Dashboard:Interactive</a:t>
            </a:r>
            <a:r>
              <a:rPr lang="en-US" sz="2800" dirty="0"/>
              <a:t> UI for uploading data, visualizing threat distribution, and viewing confidence metrics.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5FE3786-A46D-2630-BD46-34A86B1187B5}"/>
              </a:ext>
            </a:extLst>
          </p:cNvPr>
          <p:cNvSpPr txBox="1"/>
          <p:nvPr/>
        </p:nvSpPr>
        <p:spPr>
          <a:xfrm>
            <a:off x="9465844" y="3246918"/>
            <a:ext cx="6816654" cy="4465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psutil Real-Time </a:t>
            </a:r>
            <a:r>
              <a:rPr lang="en-US" sz="2800" dirty="0" err="1"/>
              <a:t>Monitoring:Live</a:t>
            </a:r>
            <a:r>
              <a:rPr lang="en-US" sz="2800" dirty="0"/>
              <a:t> process scanning with whitelist filtering and heuristic noise reduction.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End-to-End ML </a:t>
            </a:r>
            <a:r>
              <a:rPr lang="en-US" sz="2800" dirty="0" err="1"/>
              <a:t>Pipeline:Data</a:t>
            </a:r>
            <a:r>
              <a:rPr lang="en-US" sz="2800" dirty="0"/>
              <a:t> → Preprocessing → Model Training → Deployment → Real-time Prediction &amp;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1971834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6E53D-2892-415A-4477-5665DF40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5A17A1-E8CE-70EE-11BB-DDD85A7A4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369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C67DE-ECF8-094A-7445-2EFAF895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275038D1-6EF1-50A4-89D8-24DC12FC4E4D}"/>
              </a:ext>
            </a:extLst>
          </p:cNvPr>
          <p:cNvSpPr txBox="1"/>
          <p:nvPr/>
        </p:nvSpPr>
        <p:spPr>
          <a:xfrm>
            <a:off x="433639" y="1199597"/>
            <a:ext cx="8710362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Accuracy of Results</a:t>
            </a:r>
            <a:endParaRPr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89E43DF3-1842-F342-7889-0A3CCBAF46C4}"/>
              </a:ext>
            </a:extLst>
          </p:cNvPr>
          <p:cNvSpPr txBox="1"/>
          <p:nvPr/>
        </p:nvSpPr>
        <p:spPr>
          <a:xfrm>
            <a:off x="9899721" y="823853"/>
            <a:ext cx="6816654" cy="18800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Model Accuracy: 75–80%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Multi-class classification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Confusion Matrix &amp; ROC-AUC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F0CBF-66F2-3A5D-295B-D1F2B4784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3" y="3434566"/>
            <a:ext cx="17391648" cy="579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066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AE552-FA46-052F-E96C-F976E85D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DD28BE-5508-6330-B2EC-F89C72AC1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572" y="288757"/>
            <a:ext cx="12181974" cy="974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45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C2722-5752-1674-56DA-A8092080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2C212-1A86-33C9-A262-5E1F041E7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11" y="288758"/>
            <a:ext cx="12865768" cy="964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112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2FAA4-A189-04C8-40BB-DB23AB34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78F38327-D12F-4218-BDA0-9CCD53B5D156}"/>
              </a:ext>
            </a:extLst>
          </p:cNvPr>
          <p:cNvSpPr txBox="1"/>
          <p:nvPr/>
        </p:nvSpPr>
        <p:spPr>
          <a:xfrm>
            <a:off x="965454" y="3649226"/>
            <a:ext cx="10482834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Live Detection System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19488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F45D-7B9E-4806-6FC6-04CCBC87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>
            <a:extLst>
              <a:ext uri="{FF2B5EF4-FFF2-40B4-BE49-F238E27FC236}">
                <a16:creationId xmlns:a16="http://schemas.microsoft.com/office/drawing/2014/main" id="{AC1856FF-02E9-BDB6-CD21-E899BB480EB3}"/>
              </a:ext>
            </a:extLst>
          </p:cNvPr>
          <p:cNvSpPr txBox="1"/>
          <p:nvPr/>
        </p:nvSpPr>
        <p:spPr>
          <a:xfrm>
            <a:off x="359666" y="305505"/>
            <a:ext cx="17568667" cy="58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Real-time process scanning, Whitelist for system processes, Heuristic noise reduction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430C7-819B-29C1-AFBB-DEA454D711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297"/>
          <a:stretch>
            <a:fillRect/>
          </a:stretch>
        </p:blipFill>
        <p:spPr>
          <a:xfrm>
            <a:off x="503545" y="1208484"/>
            <a:ext cx="17280908" cy="74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DB6A4C-50EA-F53C-F608-DE7D9163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93" b="1"/>
          <a:stretch>
            <a:fillRect/>
          </a:stretch>
        </p:blipFill>
        <p:spPr>
          <a:xfrm>
            <a:off x="503544" y="1950802"/>
            <a:ext cx="17280909" cy="786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685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82239-F8B8-5105-B85B-43FDA11B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AB3E62D2-0F27-B307-6997-46CC112BFC8A}"/>
              </a:ext>
            </a:extLst>
          </p:cNvPr>
          <p:cNvSpPr txBox="1"/>
          <p:nvPr/>
        </p:nvSpPr>
        <p:spPr>
          <a:xfrm>
            <a:off x="965454" y="3649226"/>
            <a:ext cx="10482834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Dashboard Features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085913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E32AC-833B-DDF8-62B3-97CCD17F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0DEC1-516B-3660-2C74-9B72F7A13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" y="1061468"/>
            <a:ext cx="18271500" cy="816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7210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137A0-1A54-4B01-C9EF-BD38AE90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A6D94-1C03-05BA-554A-5994D7086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4" y="1023362"/>
            <a:ext cx="18138131" cy="824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0450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6422D-BD26-6727-E4E8-67261050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C49E55C5-A488-8005-48C1-C21CFBAAA895}"/>
              </a:ext>
            </a:extLst>
          </p:cNvPr>
          <p:cNvSpPr txBox="1"/>
          <p:nvPr/>
        </p:nvSpPr>
        <p:spPr>
          <a:xfrm>
            <a:off x="965454" y="3649226"/>
            <a:ext cx="9237326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Innovative and Sustainable Features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77300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7F2C2-5BC8-E123-815B-3219B2B8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487C1717-3DF3-0060-E7C1-9A9841E8A4BA}"/>
              </a:ext>
            </a:extLst>
          </p:cNvPr>
          <p:cNvSpPr txBox="1"/>
          <p:nvPr/>
        </p:nvSpPr>
        <p:spPr>
          <a:xfrm>
            <a:off x="481765" y="2065871"/>
            <a:ext cx="8710362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Innovative Features</a:t>
            </a:r>
            <a:endParaRPr sz="72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CB9D2CA6-7380-94F4-D3AA-21CAA6263E95}"/>
              </a:ext>
            </a:extLst>
          </p:cNvPr>
          <p:cNvSpPr txBox="1"/>
          <p:nvPr/>
        </p:nvSpPr>
        <p:spPr>
          <a:xfrm>
            <a:off x="1285111" y="4257571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CTI + AI integration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Memory-based malware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Real-time classification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Hybrid ML + heuristics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B571BA3-0073-EDA8-A050-FF7582C22B8B}"/>
              </a:ext>
            </a:extLst>
          </p:cNvPr>
          <p:cNvSpPr txBox="1"/>
          <p:nvPr/>
        </p:nvSpPr>
        <p:spPr>
          <a:xfrm>
            <a:off x="9513970" y="4257571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Lightweight deployment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Scalable architecture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Can integrate with SIEM tools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Low runtime cost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3D11616-1D51-185C-35BE-57723BF17A2A}"/>
              </a:ext>
            </a:extLst>
          </p:cNvPr>
          <p:cNvSpPr txBox="1"/>
          <p:nvPr/>
        </p:nvSpPr>
        <p:spPr>
          <a:xfrm>
            <a:off x="9513970" y="2062310"/>
            <a:ext cx="9032206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Sustainable Features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26418515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A18D5-9E42-AF76-DADD-59E544D8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C92682D4-1FB6-53B9-94AD-FA2C71F9DCF9}"/>
              </a:ext>
            </a:extLst>
          </p:cNvPr>
          <p:cNvSpPr txBox="1"/>
          <p:nvPr/>
        </p:nvSpPr>
        <p:spPr>
          <a:xfrm>
            <a:off x="965454" y="3649226"/>
            <a:ext cx="9237326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Innovative and Sustainable Features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649699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5A862-6D72-0DB3-7288-21904AAA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91502018-F7DF-7D99-81E6-981F332C4E48}"/>
              </a:ext>
            </a:extLst>
          </p:cNvPr>
          <p:cNvSpPr txBox="1"/>
          <p:nvPr/>
        </p:nvSpPr>
        <p:spPr>
          <a:xfrm>
            <a:off x="481765" y="2065871"/>
            <a:ext cx="8710362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Innovative Features</a:t>
            </a:r>
            <a:endParaRPr sz="72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F9CDF7CB-8FB7-E1E4-1BF2-E9808693CBAE}"/>
              </a:ext>
            </a:extLst>
          </p:cNvPr>
          <p:cNvSpPr txBox="1"/>
          <p:nvPr/>
        </p:nvSpPr>
        <p:spPr>
          <a:xfrm>
            <a:off x="1285111" y="4257571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CTI + AI integration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Memory-based malware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Real-time classification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Hybrid ML + heuristics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3904F3A-AE83-734F-3CFC-42BFC2E54539}"/>
              </a:ext>
            </a:extLst>
          </p:cNvPr>
          <p:cNvSpPr txBox="1"/>
          <p:nvPr/>
        </p:nvSpPr>
        <p:spPr>
          <a:xfrm>
            <a:off x="9513970" y="4257571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Lightweight deployment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Scalable architecture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Can integrate with SIEM tools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Low runtime cost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718A8A42-5071-745F-D265-CBB19C0C743E}"/>
              </a:ext>
            </a:extLst>
          </p:cNvPr>
          <p:cNvSpPr txBox="1"/>
          <p:nvPr/>
        </p:nvSpPr>
        <p:spPr>
          <a:xfrm>
            <a:off x="9513970" y="2062310"/>
            <a:ext cx="9032206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Sustainable Features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356717889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00D5D-6C49-6051-F88F-DFD6CCD0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0A40BFAA-5230-BF13-9878-B940DEAD85BE}"/>
              </a:ext>
            </a:extLst>
          </p:cNvPr>
          <p:cNvSpPr txBox="1"/>
          <p:nvPr/>
        </p:nvSpPr>
        <p:spPr>
          <a:xfrm>
            <a:off x="965454" y="3649226"/>
            <a:ext cx="9237326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Utility to Society &amp; Future Scope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088585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49A44-4A52-1D4B-4735-BD1B45DA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>
            <a:extLst>
              <a:ext uri="{FF2B5EF4-FFF2-40B4-BE49-F238E27FC236}">
                <a16:creationId xmlns:a16="http://schemas.microsoft.com/office/drawing/2014/main" id="{41A3D35A-E761-BE90-D291-C4D0BEBAF965}"/>
              </a:ext>
            </a:extLst>
          </p:cNvPr>
          <p:cNvSpPr txBox="1"/>
          <p:nvPr/>
        </p:nvSpPr>
        <p:spPr>
          <a:xfrm>
            <a:off x="866776" y="2089934"/>
            <a:ext cx="8710362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Utility to Society</a:t>
            </a:r>
            <a:endParaRPr sz="720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6C09F31-79F6-61D3-7B30-11BF77118CA3}"/>
              </a:ext>
            </a:extLst>
          </p:cNvPr>
          <p:cNvSpPr txBox="1"/>
          <p:nvPr/>
        </p:nvSpPr>
        <p:spPr>
          <a:xfrm>
            <a:off x="866776" y="4280026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Prevents ransomware attacks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Supports SOC analysts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Protects critical infrastructure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Reduces financial losses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E6B64A9-AF21-11F0-7A38-F8D09F25A7F6}"/>
              </a:ext>
            </a:extLst>
          </p:cNvPr>
          <p:cNvSpPr txBox="1"/>
          <p:nvPr/>
        </p:nvSpPr>
        <p:spPr>
          <a:xfrm>
            <a:off x="9255794" y="4329761"/>
            <a:ext cx="6816654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Cloud deployment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Transformer models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Automated threat response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D8DEE9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800" dirty="0"/>
              <a:t>SIEM integration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ECB58F38-A9AF-3E6B-AD34-A4CCBAD0D945}"/>
              </a:ext>
            </a:extLst>
          </p:cNvPr>
          <p:cNvSpPr txBox="1"/>
          <p:nvPr/>
        </p:nvSpPr>
        <p:spPr>
          <a:xfrm>
            <a:off x="9255794" y="2134500"/>
            <a:ext cx="9032206" cy="11285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8DEE9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sz="7200" dirty="0"/>
              <a:t>Future Scope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27859393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288</Words>
  <Application>Microsoft Office PowerPoint</Application>
  <PresentationFormat>Custom</PresentationFormat>
  <Paragraphs>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Harini Sri Reddy</cp:lastModifiedBy>
  <cp:revision>30</cp:revision>
  <dcterms:modified xsi:type="dcterms:W3CDTF">2026-04-01T17:08:31Z</dcterms:modified>
</cp:coreProperties>
</file>